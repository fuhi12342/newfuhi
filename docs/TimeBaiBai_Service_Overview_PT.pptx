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C87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Plataforma DX Tudo-em-Um para Lojas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1F0EC"/>
                </a:solidFill>
                <a:latin typeface="Calibri"/>
              </a:defRPr>
            </a:pPr>
            <a:r>
              <a:t>Reservas • Pedidos • Pagamentos • Gestão de Equipe • Folha de Pagamento</a:t>
            </a:r>
            <a:br/>
            <a:r>
              <a:t>Tudo em um único sistema.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3657600"/>
            <a:ext cx="3044952" cy="27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Calibri"/>
              </a:defRPr>
            </a:pPr>
            <a:r>
              <a:t>TimeBaiBai  Apresentação do Serviço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1F0EC"/>
                </a:solidFill>
                <a:latin typeface="Calibri"/>
              </a:defRPr>
            </a:pPr>
            <a:r>
              <a:t>2026  /  Nome da Empresa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Calibri"/>
              </a:defRPr>
            </a:pPr>
            <a:r>
              <a:t>Algum desses problemas é familiar?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20116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333333"/>
                </a:solidFill>
                <a:latin typeface="Calibri"/>
              </a:defRPr>
            </a:pPr>
            <a:r>
              <a:t>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691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3333"/>
                </a:solidFill>
                <a:latin typeface="Calibri"/>
              </a:defRPr>
            </a:pPr>
            <a:r>
              <a:t>Reservas Dispersas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14884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Telefone, LINE, e-mail... diferentes canais</a:t>
            </a:r>
            <a:br/>
            <a:r>
              <a:t>causam preocupação com reservas duplicadas.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463040"/>
            <a:ext cx="5120640" cy="20116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64592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333333"/>
                </a:solidFill>
                <a:latin typeface="Calibri"/>
              </a:defRPr>
            </a:pPr>
            <a:r>
              <a:t>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0" y="1691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3333"/>
                </a:solidFill>
                <a:latin typeface="Calibri"/>
              </a:defRPr>
            </a:pPr>
            <a:r>
              <a:t>Ausências e Cancelamentos de Última Hora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0" y="214884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Clientes reservam mas não aparecem.</a:t>
            </a:r>
            <a:br/>
            <a:r>
              <a:t>Perda de receita e preparação desperdiçada.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5120640" cy="20116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02336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333333"/>
                </a:solidFill>
                <a:latin typeface="Calibri"/>
              </a:defRPr>
            </a:pPr>
            <a:r>
              <a:t>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0690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3333"/>
                </a:solidFill>
                <a:latin typeface="Calibri"/>
              </a:defRPr>
            </a:pPr>
            <a:r>
              <a:t>Recebimento de Pedidos Sobrecarregado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52628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Não consegue dar conta nos horários de pico.</a:t>
            </a:r>
            <a:br/>
            <a:r>
              <a:t>Erros nos pedidos acontecem com frequência.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840480"/>
            <a:ext cx="5120640" cy="20116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402336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333333"/>
                </a:solidFill>
                <a:latin typeface="Calibri"/>
              </a:defRPr>
            </a:pPr>
            <a:r>
              <a:t>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0" y="40690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3333"/>
                </a:solidFill>
                <a:latin typeface="Calibri"/>
              </a:defRPr>
            </a:pPr>
            <a:r>
              <a:t>Pontos Cegos no Estoque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0" y="452628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Calibri"/>
              </a:defRPr>
            </a:pPr>
            <a:r>
              <a:t>Produtos esgotam sem aviso.</a:t>
            </a:r>
            <a:br/>
            <a:r>
              <a:t>Sem saber quando fazer novos pedidos.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Calibri"/>
              </a:defRPr>
            </a:pPr>
            <a:r>
              <a:t>TimeBaiBai resolve tudo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Plataforma completa para tudo que sua loja precisa. Comece apenas com um smartphone.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03120"/>
            <a:ext cx="219456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C876C"/>
                </a:solidFill>
                <a:latin typeface="Calibri"/>
              </a:defRPr>
            </a:pPr>
            <a:r>
              <a:t>6+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Calibri"/>
              </a:defRPr>
            </a:pPr>
            <a:r>
              <a:t>Módulos Principais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2103120"/>
            <a:ext cx="219456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0" y="2286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C876C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Calibri"/>
              </a:defRPr>
            </a:pPr>
            <a:r>
              <a:t>Idiomas Suportados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103120"/>
            <a:ext cx="219456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286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C876C"/>
                </a:solidFill>
                <a:latin typeface="Calibri"/>
              </a:defRPr>
            </a:pPr>
            <a:r>
              <a:t>24h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Calibri"/>
              </a:defRPr>
            </a:pPr>
            <a:r>
              <a:t>Reserva Automática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2103120"/>
            <a:ext cx="219456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2286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C876C"/>
                </a:solidFill>
                <a:latin typeface="Calibri"/>
              </a:defRPr>
            </a:pPr>
            <a:r>
              <a:t>R$0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Calibri"/>
              </a:defRPr>
            </a:pPr>
            <a:r>
              <a:t>Economia em Papel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84048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Reservas, pedidos na mesa, estoque, gestão de turnos, folha de pagamento, gestão do site...</a:t>
            </a:r>
            <a:br/>
            <a:r>
              <a:t>Gerencie tudo em um único painel — sem precisar usar várias ferramentas.</a:t>
            </a:r>
            <a:br/>
            <a:br/>
            <a:r>
              <a:t>A configuração é simples. Comece a usar no mesmo dia da criação da conta.</a:t>
            </a:r>
            <a:br/>
            <a:r>
              <a:t>Sem instalação complicada ou hardware especial. Acesse pelo celular ou computador.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Funcionalidades Principais  ①  Reservas / Pedidos na Mesa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5029200" cy="36576"/>
          </a:xfrm>
          <a:prstGeom prst="rect">
            <a:avLst/>
          </a:prstGeom>
          <a:solidFill>
            <a:srgbClr val="428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28BCA"/>
                </a:solidFill>
                <a:latin typeface="Calibri"/>
              </a:defRPr>
            </a:pPr>
            <a:r>
              <a:t>Sistema de Reservas 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Reserve pelo LINE — complete a reserva direto no chat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Reservas por e-mail também disponíveis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Confirmação com pré-pagamento — confirmação automática ao pagar (previne ausências)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Alterne entre pré-pagamento / pós-pagamento com um clique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Calendários da equipe mostram disponibilidade em tempo real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Dois fluxos de reserva: por data ou por membro da equipe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Check-in por QR code (zero esforço na recepção)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Notificação automática por LINE à equipe na confirmação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Suporte em 7 idiomas (japonês, inglês, chinês, coreano, espanhol, português)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6520" y="1170432"/>
            <a:ext cx="5029200" cy="36576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CAF50"/>
                </a:solidFill>
                <a:latin typeface="Calibri"/>
              </a:defRPr>
            </a:pPr>
            <a:r>
              <a:t>Sistema de Pedidos QR na Mesa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Coloque QR codes em cada mesa para começar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Clientes escaneiam com o celular → veem o menu → fazem pedido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Menus com fotos ajudam a visualizar os pratos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Abas por categoria para busca rápida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Função de carrinho para pedidos adicionais fáceis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Acompanhamento do status do pedido em tempo real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Suporte a pagamento: dinheiro, cartão de crédito e dinheiro eletrônico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Geração em massa de QR codes e download para impressão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Funcionalidades Principais  ②  Estoque / Gestão de Equipe e Turnos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5029200" cy="36576"/>
          </a:xfrm>
          <a:prstGeom prst="rect">
            <a:avLst/>
          </a:prstGeom>
          <a:solidFill>
            <a:srgbClr val="FF9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800"/>
                </a:solidFill>
                <a:latin typeface="Calibri"/>
              </a:defRPr>
            </a:pPr>
            <a:r>
              <a:t>Gestão de Estoque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Acompanhamento de níveis de estoque em tempo real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Dedução automática de estoque vinculada a pedidos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Alertas automáticos quando o estoque está baixo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Recebimento por QR code (sem scanner de código de barras)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Histórico completo de entradas/saídas de estoque (pronto para auditoria)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Organizado por categoria de produto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Estoque unificado para loja EC e loja física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Função de inventário para ajustes em massa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6520" y="1170432"/>
            <a:ext cx="5029200" cy="36576"/>
          </a:xfrm>
          <a:prstGeom prst="rect">
            <a:avLst/>
          </a:prstGeom>
          <a:solidFill>
            <a:srgbClr val="428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28BCA"/>
                </a:solidFill>
                <a:latin typeface="Calibri"/>
              </a:defRPr>
            </a:pPr>
            <a:r>
              <a:t>Gestão de Equipe e Turnos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Equipe envia preferências de turno pelo celular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Três níveis: Disponível / Preferido / Indisponível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Gerentes finalizam turnos pelo painel de administração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Agendamento automático para alocação eficiente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Turnos confirmados notificados automaticamente por LINE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Perfis da equipe com fotos e descrições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Tipos: Cast (atendimento) / Equipe da Loja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Permissões por função: Proprietário / Gerente / Equipe / Desenvolvedor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Funcionalidades Principais  ③  Folha de Pagamento / Gestão do Site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5029200" cy="36576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CAF50"/>
                </a:solidFill>
                <a:latin typeface="Calibri"/>
              </a:defRPr>
            </a:pPr>
            <a:r>
              <a:t>Gestão de Folha e Frequência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Geração automática de dados de frequência a partir de registros de turno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Classificação automática de horas regulares, extras, noturnas e feriados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Cálculo de folha para funcionários horistas e assalariados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Cálculo automático de encargos sociais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Aplicação automática de deduções de impostos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Geração de holerites com um clique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Exportação CSV para transferências bancárias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Configuração fácil de benefícios (transporte, moradia, família)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6520" y="1170432"/>
            <a:ext cx="5029200" cy="36576"/>
          </a:xfrm>
          <a:prstGeom prst="rect">
            <a:avLst/>
          </a:prstGeom>
          <a:solidFill>
            <a:srgbClr val="FF9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800"/>
                </a:solidFill>
                <a:latin typeface="Calibri"/>
              </a:defRPr>
            </a:pPr>
            <a:r>
              <a:t>Gestão do Site e Marketing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Edite o site da loja pelo painel de administração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Banners hero (sliders) para destacar sua loja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Atualização fácil de notícias e aparições na mídia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Posicionamento e gestão de banners publicitários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Integração com redes sociais (X / Instagram embeds)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Blocos HTML personalizados para layouts flexíveis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Páginas legais editáveis pelo administrador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Loja EC integrada para vendas online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Funcionalidades Principais  ④  Análise de Dados / Segurança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5029200" cy="36576"/>
          </a:xfrm>
          <a:prstGeom prst="rect">
            <a:avLst/>
          </a:prstGeom>
          <a:solidFill>
            <a:srgbClr val="428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28BCA"/>
                </a:solidFill>
                <a:latin typeface="Calibri"/>
              </a:defRPr>
            </a:pPr>
            <a:r>
              <a:t>Análise de Dados e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Painel de vendas com gráficos de tendência diário/semanal/mensal/anual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Engenharia de Menu (classificação Star/Dog) para melhoria de lucro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Análise ABC, RFM, coorte e de cesta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NPS (satisfação do cliente) agregação automática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IA prevê equipe ideal por faixa horária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Previsão de demanda e receita para compras e pessoal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Insights de negócio detectam anomalias e oportunidades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Scorecards KPI para visão rápida da saúde do negócio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6520" y="1170432"/>
            <a:ext cx="5029200" cy="36576"/>
          </a:xfrm>
          <a:prstGeom prst="rect">
            <a:avLst/>
          </a:prstGeom>
          <a:solidFill>
            <a:srgbClr val="FF9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800"/>
                </a:solidFill>
                <a:latin typeface="Calibri"/>
              </a:defRPr>
            </a:pPr>
            <a:r>
              <a:t>Segurança e Auditoria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Log completo de acessos (login, operações, detecção de anomalias)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Limitação de taxa por IP bloqueia acessos não autorizados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PII de clientes criptografada com AES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Auditoria de segurança automatizada (12 verificações diárias)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Controle de acesso baseado em funções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Rastreabilidade completa: histórico de operações e mudanças de turno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Criptografia SSL e proteção CSRF integrados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Calibri"/>
              </a:defRPr>
            </a:pPr>
            <a:r>
              <a:t>  ●  Integração com serviço de pagamento compatível com PCI DSS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Visão do Cliente — Página Inicial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ront_top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7975" y="1188720"/>
            <a:ext cx="4693648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A primeira tela que os clientes veem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Banners hero destacam o apelo da sua loja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Fluxo de reserva claro com múltiplas opções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Ranking de equipe para promover membros populares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Exibição automática de notícias e aparições na mídia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Suporte em 7 idiomas para clientes internacionais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Visão do Cliente — Perfis da Equipe e Info da Loja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ront_staff_list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4888" y="1188720"/>
            <a:ext cx="3259823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Apresente sua equipe de forma atraente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Fotos e descrições de perfil da equipe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Exiba especialidades e qualificações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Link direto para o calendário de reservas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Info da loja (horário, mapa, como chegar)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Atualização fácil do conteúdo pelo painel admin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Visão do Cliente — Notícias e Anúncios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ront_news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0246" y="1188720"/>
            <a:ext cx="5189107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Mantenha os clientes informados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Publique novos itens do menu, campanhas e promoções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Publicação com um clique pelo painel admin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Ordenação automática por data para conteúdo atualizado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Integração com redes sociais para maior alcance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Incentive visitas recorrentes com atualizações oportunas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Visão do Cliente — Loja Online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ront_shop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Expanda seus canais de venda com EC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Venda seus produtos online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Busca de produtos e filtragem por categoria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Carrinho de compras para pedidos múltiplos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Pagamento com cartão de crédito e dinheiro eletrônico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Estoque unificado evita discrepâncias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Visão do Cliente — Pedidos QR na Mesa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able_order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2386" y="1188720"/>
            <a:ext cx="2364827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Pedido fácil pelo smartphone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Basta escanear o QR code na mesa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Menus com fotos transmitem o prato visualmente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Abas por categoria para busca rápida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Função de carrinho para pedidos adicionais fáceis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Acompanhamento do status do pedido em tempo real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Visão do Cliente — Calendário de Reservas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ooking_calendar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3635" y="1188720"/>
            <a:ext cx="4862328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Reservas online 24/7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Veja a disponibilidade da equipe no calendário de relance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Clientes escolhem data e horário preferidos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Confirmação com pré-pagamento previne ausências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Suporte a reservas por LINE e e-mail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Notificação automática à equipe na confirmação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Calibri"/>
              </a:defRPr>
            </a:pPr>
            <a:r>
              <a:t>Totalmente Responsivo para Celular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Tanto o site do cliente quanto o painel de administração funcionam perfeitamente em smartphones.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645920"/>
            <a:ext cx="384048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ront_top_mobile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800" y="1783080"/>
            <a:ext cx="1858078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0" y="57607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33333"/>
                </a:solidFill>
                <a:latin typeface="Calibri"/>
              </a:defRPr>
            </a:pPr>
            <a:r>
              <a:t>Página Inicial do 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384048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_dashboard_mobile_v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472" y="1783080"/>
            <a:ext cx="1859135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0" y="57607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33333"/>
                </a:solidFill>
                <a:latin typeface="Calibri"/>
              </a:defRPr>
            </a:pPr>
            <a:r>
              <a:t>Painel de Administração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Painel Admin — Painel de Vendas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sales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Visão geral do negócio de relance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Tendências de receita diária / semanal / mensal / anual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KPIs de reservas (quantidade, taxa de cancelamento) em tempo real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Divisão em três canais: Total, Loja EC, Menu na Loja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Scorecards KPI para visão geral das principais métricas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Insights de Negócio sugerem melhorias automaticamente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Painel Admin — Análise de Vendas (Análise de Menu)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menu_eng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Otimização de lucro com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Engenharia de Menu: classificação em 4 quadrantes Star / Plowhorse / Puzzle / Dog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Análise ABC: princípio de Pareto para identificar os maiores geradores de receita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Previsão de Receita: modelo de IA Prophet prevê 14 dias à frente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Mapa de calor de vendas por hora para decisões ótimas de pessoal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Tendências de AOV (Ticket Médio) para revisão de estratégia de preços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Painel Admin — Análise de Vendas (Análise de Clientes)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rfm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Compreensão de clientes baseada em dados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Análise RFM: segmentação automática de clientes por recencia, frequência e valor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Análise de Coorte: visualize taxas de retenção mensal de novos clientes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Análise de Cesta: descubra padrões de venda cruzada e recomendações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Resumo por IA: resultados da análise resumidos em linguagem natural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Ações Recomendadas: IA sugere passos de melhoria específicos automaticamente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Painel Admin — Calendário de Turnos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hift_calendar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Gestão de turnos simplificada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Equipe envia preferências de turno pelo smartphone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Visão de calendário com todas as escalas de relance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Agendamento automático com alocação em um clique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Detecção automática de dias com pessoal insuficiente com alertas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Turnos confirmados notificados automaticamente via LINE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Painel Admin — Caixa POS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os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Experiência de checkout suave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Abas por categoria para seleção rápida de produtos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Suporte a dinheiro, cartão de crédito, PayPay e cartão de transporte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Geração e impressão automática de recibos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Integração com display da cozinha para notificações de pedidos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Relatórios de vendas diários e mensais gerados automaticamente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Painel Admin — Gestão de Estoque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ventory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Previna rupturas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Níveis de estoque em tempo real para todos os produtos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Dedução automática ao receber pedidos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Alertas e notificações de estoque baixo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Recebimento por QR code (sem scanner de código de barras)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Histórico completo de entradas/saídas para conformidade de auditoria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Painel Admin — Feedback do Cliente (NPS)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ustomer_feedback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Quantifique a voz dos seus clientes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NPS (Net Promoter Score) agregação automática e tendências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Exibição com cores: Promotor / Passivo / Detrator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Feedback baseado em comentários para melhorias acionáveis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Vinculado a dados de pedidos para análise de qualidade do serviço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Tendências mensais e por membro da equipe de satisfação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Painel Admin — Quadro de Frequência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ttendance_board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Status de frequência em tempo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Veja status de serviço, pausa e não registrado de relance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Atualização automática a cada 30 segundos para rastreamento ao vivo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Três métodos de registro: QR code, PIN ou smartphone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Classificação automática de horas extras, noturnas e feriados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Fluxo contínuo de dados de frequência para folha de pagamento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Calibri"/>
              </a:defRPr>
            </a:pPr>
            <a:r>
              <a:t>Painel Admin — Monitor de Sensores IoT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ot_sensors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Calibri"/>
              </a:defRPr>
            </a:pPr>
            <a:r>
              <a:t>Monitoramento ambiental em tempo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Temperatura, umidade, pressão e níveis de gás em tempo real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Sensor de movimento PIR para contagem automática de visitantes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Notificações de alerta em anomalias (vazamentos de gás, altas temperaturas, etc.)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Gráficos de séries temporais para acompanhar tendências dos sensores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Monitoramento de conectividade de dispositivos ESP32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Calibri"/>
              </a:defRPr>
            </a:pPr>
            <a:r>
              <a:t>Benefícios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18288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4747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33333"/>
                </a:solidFill>
                <a:latin typeface="Calibri"/>
              </a:defRPr>
            </a:pPr>
            <a:r>
              <a:t>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3716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C876C"/>
                </a:solidFill>
                <a:latin typeface="Calibri"/>
              </a:defRPr>
            </a:pPr>
            <a:r>
              <a:t>Zero Perdas com Ausências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 confirmação com pré-pagamento elimina cancelamentos de última hora.</a:t>
            </a:r>
            <a:br/>
            <a:r>
              <a:t>Alterne entre pré-pagamento / pós-pagamento com um clique.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188720"/>
            <a:ext cx="34747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258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33333"/>
                </a:solidFill>
                <a:latin typeface="Calibri"/>
              </a:defRPr>
            </a:pPr>
            <a:r>
              <a:t>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13716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C876C"/>
                </a:solidFill>
                <a:latin typeface="Calibri"/>
              </a:defRPr>
            </a:pPr>
            <a:r>
              <a:t>Reservas Fáceis pelo 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828800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Clientes reservam direto no chat do LINE.</a:t>
            </a:r>
            <a:br/>
            <a:r>
              <a:t>Sem necessidade de instalar novo aplicativo.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188720"/>
            <a:ext cx="34747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3258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33333"/>
                </a:solidFill>
                <a:latin typeface="Calibri"/>
              </a:defRPr>
            </a:pPr>
            <a:r>
              <a:t>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13716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C876C"/>
                </a:solidFill>
                <a:latin typeface="Calibri"/>
              </a:defRPr>
            </a:pPr>
            <a:r>
              <a:t>Aumente sua Receita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828800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Pedidos QR aumentam a taxa de pedidos adicionais.</a:t>
            </a:r>
            <a:br/>
            <a:r>
              <a:t>Suporte multilíngue captura visitantes internacionais.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840480"/>
            <a:ext cx="34747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776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33333"/>
                </a:solidFill>
                <a:latin typeface="Calibri"/>
              </a:defRPr>
            </a:pPr>
            <a:r>
              <a:t>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0233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C876C"/>
                </a:solidFill>
                <a:latin typeface="Calibri"/>
              </a:defRPr>
            </a:pPr>
            <a:r>
              <a:t>Economize Horas de Trabalho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480560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Automatize reservas, pedidos, turnos e folha de pagamento.</a:t>
            </a:r>
            <a:br/>
            <a:r>
              <a:t>Libere sua equipe para focar no atendimento ao cliente.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3840480"/>
            <a:ext cx="34747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39776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33333"/>
                </a:solidFill>
                <a:latin typeface="Calibri"/>
              </a:defRPr>
            </a:pPr>
            <a:r>
              <a:t>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40233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C876C"/>
                </a:solidFill>
                <a:latin typeface="Calibri"/>
              </a:defRPr>
            </a:pPr>
            <a:r>
              <a:t>Reduza Custos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480560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Livros de reserva, notas de pedido, cartões de ponto...</a:t>
            </a:r>
            <a:br/>
            <a:r>
              <a:t>Elimine custos com papel e esforço manual.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60" y="3840480"/>
            <a:ext cx="34747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39776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33333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40233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C876C"/>
                </a:solidFill>
                <a:latin typeface="Calibri"/>
              </a:defRPr>
            </a:pPr>
            <a:r>
              <a:t>Decisões Baseadas em Dados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480560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Visualize vendas, reservas e desempenho da equipe.</a:t>
            </a:r>
            <a:br/>
            <a:r>
              <a:t>Tome decisões informadas com dados reais.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Calibri"/>
              </a:defRPr>
            </a:pPr>
            <a:r>
              <a:t>Como Começar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" y="1463040"/>
            <a:ext cx="1005840" cy="1005840"/>
          </a:xfrm>
          <a:prstGeom prst="ellipse">
            <a:avLst/>
          </a:prstGeom>
          <a:solidFill>
            <a:srgbClr val="8C8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STEP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6459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8C876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  <a:latin typeface="Calibri"/>
              </a:defRPr>
            </a:pPr>
            <a:r>
              <a:t>Contate-nos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Calibri"/>
              </a:defRPr>
            </a:pPr>
            <a:r>
              <a:t>Ligue ou use nosso</a:t>
            </a:r>
            <a:br/>
            <a:r>
              <a:t>formulário de contato</a:t>
            </a:r>
          </a:p>
        </p:txBody>
      </p:sp>
      <p:sp>
        <p:nvSpPr>
          <p:cNvPr id="8" name="Oval 7"/>
          <p:cNvSpPr/>
          <p:nvPr/>
        </p:nvSpPr>
        <p:spPr>
          <a:xfrm>
            <a:off x="3246120" y="1463040"/>
            <a:ext cx="1005840" cy="1005840"/>
          </a:xfrm>
          <a:prstGeom prst="ellipse">
            <a:avLst/>
          </a:prstGeom>
          <a:solidFill>
            <a:srgbClr val="8C8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STEP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6459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8C876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651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  <a:latin typeface="Calibri"/>
              </a:defRPr>
            </a:pPr>
            <a:r>
              <a:t>Consultoria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10896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Calibri"/>
              </a:defRPr>
            </a:pPr>
            <a:r>
              <a:t>Conhecemos seu fluxo</a:t>
            </a:r>
            <a:br/>
            <a:r>
              <a:t>de trabalho e desafios</a:t>
            </a:r>
          </a:p>
        </p:txBody>
      </p:sp>
      <p:sp>
        <p:nvSpPr>
          <p:cNvPr id="12" name="Oval 11"/>
          <p:cNvSpPr/>
          <p:nvPr/>
        </p:nvSpPr>
        <p:spPr>
          <a:xfrm>
            <a:off x="5532120" y="1463040"/>
            <a:ext cx="1005840" cy="1005840"/>
          </a:xfrm>
          <a:prstGeom prst="ellipse">
            <a:avLst/>
          </a:prstGeom>
          <a:solidFill>
            <a:srgbClr val="8C8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STEP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6459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8C876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51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  <a:latin typeface="Calibri"/>
              </a:defRPr>
            </a:pPr>
            <a:r>
              <a:t>Demo e Orçamento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10896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Calibri"/>
              </a:defRPr>
            </a:pPr>
            <a:r>
              <a:t>Veja o produto em ação.</a:t>
            </a:r>
            <a:br/>
            <a:r>
              <a:t>Propomos o melhor plano</a:t>
            </a:r>
          </a:p>
        </p:txBody>
      </p:sp>
      <p:sp>
        <p:nvSpPr>
          <p:cNvPr id="16" name="Oval 15"/>
          <p:cNvSpPr/>
          <p:nvPr/>
        </p:nvSpPr>
        <p:spPr>
          <a:xfrm>
            <a:off x="7818120" y="1463040"/>
            <a:ext cx="1005840" cy="1005840"/>
          </a:xfrm>
          <a:prstGeom prst="ellipse">
            <a:avLst/>
          </a:prstGeom>
          <a:solidFill>
            <a:srgbClr val="8C8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STEP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16459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8C876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2651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  <a:latin typeface="Calibri"/>
              </a:defRPr>
            </a:pPr>
            <a:r>
              <a:t>Configuração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310896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Calibri"/>
              </a:defRPr>
            </a:pPr>
            <a:r>
              <a:t>Registre info da loja e equipe.</a:t>
            </a:r>
            <a:br/>
            <a:r>
              <a:t>Auxiliamos na configuração</a:t>
            </a:r>
          </a:p>
        </p:txBody>
      </p:sp>
      <p:sp>
        <p:nvSpPr>
          <p:cNvPr id="20" name="Oval 19"/>
          <p:cNvSpPr/>
          <p:nvPr/>
        </p:nvSpPr>
        <p:spPr>
          <a:xfrm>
            <a:off x="10104120" y="1463040"/>
            <a:ext cx="1005840" cy="1005840"/>
          </a:xfrm>
          <a:prstGeom prst="ellipse">
            <a:avLst/>
          </a:prstGeom>
          <a:solidFill>
            <a:srgbClr val="8C8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STEP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2651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  <a:latin typeface="Calibri"/>
              </a:defRPr>
            </a:pPr>
            <a:r>
              <a:t>No Ar!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310896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Calibri"/>
              </a:defRPr>
            </a:pPr>
            <a:r>
              <a:t>Após uma breve orientação,</a:t>
            </a:r>
            <a:br/>
            <a:r>
              <a:t>você está pronto!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4754880"/>
            <a:ext cx="10360152" cy="137160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0" y="4937760"/>
            <a:ext cx="94457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Comece a usar no mesmo dia.</a:t>
            </a:r>
            <a:br/>
            <a:r>
              <a:t>Sem hardware especial ou instalação de sistema. Acesse instantaneamente do seu smartphone, tablet ou PC.</a:t>
            </a:r>
            <a:br/>
            <a:r>
              <a:t>Oferecemos suporte contínuo, treinamento e atualizações após a implantação.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Calibri"/>
              </a:defRPr>
            </a:pPr>
            <a:r>
              <a:t>Planos e Preços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18288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Calibri"/>
              </a:defRPr>
            </a:pPr>
            <a:r>
              <a:t>* Os preços são para referência. Personalizamos planos conforme suas necessidades.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474720" cy="47548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3474720" cy="73152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  <a:latin typeface="Calibri"/>
              </a:defRPr>
            </a:pPr>
            <a:r>
              <a:t>Plano Básico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4CAF50"/>
                </a:solidFill>
                <a:latin typeface="Calibri"/>
              </a:defRPr>
            </a:pPr>
            <a:r>
              <a:t>A partir de R$XX/mês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834640"/>
            <a:ext cx="2926080" cy="18288"/>
          </a:xfrm>
          <a:prstGeom prst="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260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Para lojas pequenas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91840"/>
            <a:ext cx="29260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Gestão de reservas (LINE e e-mail)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Gestão de equipe (até 5)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Gestão do site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Suporte por e-mail e chat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554480"/>
            <a:ext cx="3474720" cy="47548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554480"/>
            <a:ext cx="3474720" cy="73152"/>
          </a:xfrm>
          <a:prstGeom prst="rect">
            <a:avLst/>
          </a:prstGeom>
          <a:solidFill>
            <a:srgbClr val="428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0" y="1417320"/>
            <a:ext cx="2011680" cy="320040"/>
          </a:xfrm>
          <a:prstGeom prst="roundRect">
            <a:avLst/>
          </a:prstGeom>
          <a:solidFill>
            <a:srgbClr val="428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★ Recomendado!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828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  <a:latin typeface="Calibri"/>
              </a:defRPr>
            </a:pPr>
            <a:r>
              <a:t>Plano Padrão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2860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428BCA"/>
                </a:solidFill>
                <a:latin typeface="Calibri"/>
              </a:defRPr>
            </a:pPr>
            <a:r>
              <a:t>A partir de R$XX/mês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2834640"/>
            <a:ext cx="2926080" cy="18288"/>
          </a:xfrm>
          <a:prstGeom prst="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29260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Para lojas de médio porte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291840"/>
            <a:ext cx="29260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Todas as funcionalidades do Plano Básico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Pedidos QR na mesa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Gestão de estoque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Gestão de turnos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Equipe ilimitada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Suporte telefônico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1554480"/>
            <a:ext cx="3474720" cy="47548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0" y="1554480"/>
            <a:ext cx="3474720" cy="73152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1828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  <a:latin typeface="Calibri"/>
              </a:defRPr>
            </a:pPr>
            <a:r>
              <a:t>Plano Premium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2860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8C876C"/>
                </a:solidFill>
                <a:latin typeface="Calibri"/>
              </a:defRPr>
            </a:pPr>
            <a:r>
              <a:t>A partir de R$XX/mês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03920" y="2834640"/>
            <a:ext cx="2926080" cy="18288"/>
          </a:xfrm>
          <a:prstGeom prst="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29260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Calibri"/>
              </a:defRPr>
            </a:pPr>
            <a:r>
              <a:t>Multi-loja / Todas as funcionalidades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3291840"/>
            <a:ext cx="29260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Todas as funcionalidades do Plano Padrão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Folha de pagamento e frequência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Painel de vendas e análises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Suporte multilíngue (7 idiomas)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Gestão multi-loja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Suporte prioritário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  ✓  Desenvolvimento personalizado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400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Calibri"/>
              </a:defRPr>
            </a:pPr>
            <a:r>
              <a:t>* Taxas de configuração e personalização cotadas separadamente.  * Preços não incluem impostos.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Calibri"/>
              </a:defRPr>
            </a:pPr>
            <a:r>
              <a:t>Perguntas Frequentes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18288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11274552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725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C876C"/>
                </a:solidFill>
                <a:latin typeface="Calibri"/>
              </a:defRPr>
            </a:pPr>
            <a:r>
              <a:t>P. Preciso de algum equipamento especial?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R. Não é necessário hardware especial. Use no seu smartphone, tablet ou PC existente.</a:t>
            </a:r>
            <a:br/>
            <a:r>
              <a:t>   Para pedidos na mesa, basta imprimir QR codes pelo painel de administração.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94560"/>
            <a:ext cx="11274552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267712"/>
            <a:ext cx="10725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C876C"/>
                </a:solidFill>
                <a:latin typeface="Calibri"/>
              </a:defRPr>
            </a:pPr>
            <a:r>
              <a:t>P. Funcionários sem conhecimento técnico conseguem usar?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R. Sim. Se você sabe usar um smartphone, sabe usar o TimeBaiBai. A interface é intuitiva e simples.</a:t>
            </a:r>
            <a:br/>
            <a:r>
              <a:t>   Também oferecemos treinamento prático durante a implantação.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291840"/>
            <a:ext cx="11274552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64992"/>
            <a:ext cx="10725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C876C"/>
                </a:solidFill>
                <a:latin typeface="Calibri"/>
              </a:defRPr>
            </a:pPr>
            <a:r>
              <a:t>P. Posso adicionar ou mudar funcionalidades depois?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65760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R. Com certeza. Você pode fazer upgrade ou mudar seu plano a qualquer momento.</a:t>
            </a:r>
            <a:br/>
            <a:r>
              <a:t>   Recomendamos começar com as funcionalidades básicas e expandir conforme necessário.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89120"/>
            <a:ext cx="11274552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462272"/>
            <a:ext cx="10725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C876C"/>
                </a:solidFill>
                <a:latin typeface="Calibri"/>
              </a:defRPr>
            </a:pPr>
            <a:r>
              <a:t>P. Meus dados estão seguros?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5488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R. Os dados dos clientes são criptografados em repouso. Toda comunicação usa criptografia SSL.</a:t>
            </a:r>
            <a:br/>
            <a:r>
              <a:t>   Informações de cartão são processadas por serviços compatíveis com PCI DSS — nenhum dado de cartão é armazenado em nossos servidores.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486400"/>
            <a:ext cx="11274552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559552"/>
            <a:ext cx="10725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C876C"/>
                </a:solidFill>
                <a:latin typeface="Calibri"/>
              </a:defRPr>
            </a:pPr>
            <a:r>
              <a:t>P. Posso usar para múltiplas unidades?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85216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R. Sim. O Plano Premium suporta gestão multi-loja.</a:t>
            </a:r>
            <a:br/>
            <a:r>
              <a:t>   Gerencie equipe e estoque por unidade enquanto visualiza relatórios consolidados de todas as lojas.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C87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Entre em Contato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1F0EC"/>
                </a:solidFill>
                <a:latin typeface="Calibri"/>
              </a:defRPr>
            </a:pPr>
            <a:r>
              <a:t>Solicite uma demo, orçamento ou tire suas dúvidas.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017520"/>
            <a:ext cx="3959352" cy="27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0" y="3474720"/>
            <a:ext cx="6702552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0" y="3657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TEL:     000-0000-0000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39776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Email:   info@example.com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42976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Web:    https://timebaibai.com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46177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3657600" y="49377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  <a:r>
              <a:t>Nome da Empresa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5257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Calibri"/>
              </a:defRPr>
            </a:pPr>
            <a:r>
              <a:t>Endereço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1F0EC"/>
                </a:solidFill>
                <a:latin typeface="Calibri"/>
              </a:defRPr>
            </a:pPr>
            <a:r>
              <a:t>© 2026 TimeBaiBai. All Rights Reserved.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