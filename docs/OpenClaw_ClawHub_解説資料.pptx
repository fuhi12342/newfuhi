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0" y="731520"/>
            <a:ext cx="2130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FFFFFF"/>
                </a:solidFill>
                <a:latin typeface="Meiryo"/>
              </a:defRPr>
            </a:pPr>
            <a:r>
              <a:t>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"/>
              </a:defRPr>
            </a:pPr>
            <a:r>
              <a:t>OpenClaw &amp; ClawHub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03E3E"/>
                </a:solidFill>
                <a:latin typeface="Meiryo"/>
              </a:defRPr>
            </a:pPr>
            <a:r>
              <a:t>AI時代の「自分だけのアシスタント」を手に入れよう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30552" cy="27432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eiryo"/>
              </a:defRPr>
            </a:pPr>
            <a:r>
              <a:t>機能紹介・システム構成・使い方・革新性</a:t>
            </a:r>
            <a:br/>
            <a:r>
              <a:t>初心者向けガイド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eiryo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eiryo"/>
              </a:defRPr>
            </a:pPr>
            <a:r>
              <a:t>🦞  OpenClaw（オープンクロー）とは？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4552" cy="146304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Meiryo"/>
              </a:defRPr>
            </a:pPr>
            <a:r>
              <a:t>OpenClawは、あなた専用のAIアシスタントを自分のパソコンやサーバーで動かせる</a:t>
            </a:r>
            <a:br/>
            <a:r>
              <a:t>オープンソースのプロジェクトです。LINEやWhatsApp、Telegramなどの</a:t>
            </a:r>
            <a:br/>
            <a:r>
              <a:t>メッセージアプリを通じて、AIに様々な作業を頼めます。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474720" cy="14630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3474720" cy="54864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8BCA"/>
                </a:solidFill>
                <a:latin typeface="Meiryo"/>
              </a:defRPr>
            </a:pPr>
            <a:r>
              <a:t>開発者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Meiryo"/>
              </a:defRPr>
            </a:pPr>
            <a:r>
              <a:t>Peter Steinberger</a:t>
            </a:r>
            <a:br/>
            <a:r>
              <a:t>(PSPDFKit創業者)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926080"/>
            <a:ext cx="3474720" cy="14630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92608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eiryo"/>
              </a:defRPr>
            </a:pPr>
            <a:r>
              <a:t>ライセンス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74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Meiryo"/>
              </a:defRPr>
            </a:pPr>
            <a:r>
              <a:t>MIT（完全無料）</a:t>
            </a:r>
            <a:br/>
            <a:r>
              <a:t>商用利用も自由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3474720" cy="14630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926080"/>
            <a:ext cx="3474720" cy="54864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E3E"/>
                </a:solidFill>
                <a:latin typeface="Meiryo"/>
              </a:defRPr>
            </a:pPr>
            <a:r>
              <a:t>人気度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4747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Meiryo"/>
              </a:defRPr>
            </a:pPr>
            <a:r>
              <a:t>GitHub 220,000+★</a:t>
            </a:r>
            <a:br/>
            <a:r>
              <a:t>600人以上が開発に参加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eiryo"/>
              </a:defRPr>
            </a:pPr>
            <a:r>
              <a:t>名称の変遷</a:t>
            </a:r>
          </a:p>
        </p:txBody>
      </p:sp>
      <p:sp>
        <p:nvSpPr>
          <p:cNvPr id="19" name="Oval 18"/>
          <p:cNvSpPr/>
          <p:nvPr/>
        </p:nvSpPr>
        <p:spPr>
          <a:xfrm>
            <a:off x="1508760" y="5120640"/>
            <a:ext cx="365760" cy="365760"/>
          </a:xfrm>
          <a:prstGeom prst="ellipse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74520" y="5257800"/>
            <a:ext cx="2286000" cy="9144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2025年11月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97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Clawdbot</a:t>
            </a:r>
            <a:br/>
            <a:r>
              <a:t>として公開</a:t>
            </a:r>
          </a:p>
        </p:txBody>
      </p:sp>
      <p:sp>
        <p:nvSpPr>
          <p:cNvPr id="23" name="Oval 22"/>
          <p:cNvSpPr/>
          <p:nvPr/>
        </p:nvSpPr>
        <p:spPr>
          <a:xfrm>
            <a:off x="4343400" y="5120640"/>
            <a:ext cx="365760" cy="365760"/>
          </a:xfrm>
          <a:prstGeom prst="ellipse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9160" y="5257800"/>
            <a:ext cx="2286000" cy="9144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5577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2026年1月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897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Moltbot</a:t>
            </a:r>
            <a:br/>
            <a:r>
              <a:t>に改名</a:t>
            </a:r>
          </a:p>
        </p:txBody>
      </p:sp>
      <p:sp>
        <p:nvSpPr>
          <p:cNvPr id="27" name="Oval 26"/>
          <p:cNvSpPr/>
          <p:nvPr/>
        </p:nvSpPr>
        <p:spPr>
          <a:xfrm>
            <a:off x="7178040" y="5120640"/>
            <a:ext cx="365760" cy="365760"/>
          </a:xfrm>
          <a:prstGeom prst="ellipse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3800" y="5257800"/>
            <a:ext cx="2286000" cy="9144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577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2026年1月末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897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OpenClaw</a:t>
            </a:r>
            <a:br/>
            <a:r>
              <a:t>に再改名</a:t>
            </a:r>
          </a:p>
        </p:txBody>
      </p:sp>
      <p:sp>
        <p:nvSpPr>
          <p:cNvPr id="31" name="Oval 30"/>
          <p:cNvSpPr/>
          <p:nvPr/>
        </p:nvSpPr>
        <p:spPr>
          <a:xfrm>
            <a:off x="10012680" y="5120640"/>
            <a:ext cx="365760" cy="36576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5577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eiryo"/>
              </a:defRPr>
            </a:pPr>
            <a:r>
              <a:t>2026年2月〜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897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22万★突破</a:t>
            </a:r>
            <a:br/>
            <a:r>
              <a:t>爆発的成長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eiryo"/>
              </a:defRPr>
            </a:pPr>
            <a:r>
              <a:t>OpenClawでできること（主な機能）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377440"/>
          </a:xfrm>
          <a:prstGeom prst="roundRect">
            <a:avLst/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43584"/>
            <a:ext cx="3291840" cy="45720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8BCA"/>
                </a:solidFill>
                <a:latin typeface="Meiryo"/>
              </a:defRPr>
            </a:pPr>
            <a:r>
              <a:t>チャットで指示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eiryo"/>
              </a:defRPr>
            </a:pPr>
            <a:r>
              <a:t>メッセージアプリ対応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Meiryo"/>
              </a:defRPr>
            </a:pPr>
            <a:r>
              <a:t>LINE・WhatsApp・Telegram・Discord・</a:t>
            </a:r>
            <a:br/>
            <a:r>
              <a:t>iMessageなど、いつものアプリから</a:t>
            </a:r>
            <a:br/>
            <a:r>
              <a:t>AIに話しかけるだけで操作できます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23774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43584"/>
            <a:ext cx="3291840" cy="457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eiryo"/>
              </a:defRPr>
            </a:pPr>
            <a:r>
              <a:t>ブラウザ操作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eiryo"/>
              </a:defRPr>
            </a:pPr>
            <a:r>
              <a:t>Webサイトの自動操作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Meiryo"/>
              </a:defRPr>
            </a:pPr>
            <a:r>
              <a:t>フォームの入力、データの収集、</a:t>
            </a:r>
            <a:br/>
            <a:r>
              <a:t>予約の自動化など、ブラウザ上の</a:t>
            </a:r>
            <a:br/>
            <a:r>
              <a:t>作業をAIが代行します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188720"/>
            <a:ext cx="3474720" cy="2377440"/>
          </a:xfrm>
          <a:prstGeom prst="roundRect">
            <a:avLst/>
          </a:prstGeom>
          <a:solidFill>
            <a:srgbClr val="FD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243584"/>
            <a:ext cx="3291840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371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eiryo"/>
              </a:defRPr>
            </a:pPr>
            <a:r>
              <a:t>ファイル管理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eiryo"/>
              </a:defRPr>
            </a:pPr>
            <a:r>
              <a:t>読み書き・整理の自動化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0312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Meiryo"/>
              </a:defRPr>
            </a:pPr>
            <a:r>
              <a:t>ドキュメントの作成・整理、</a:t>
            </a:r>
            <a:br/>
            <a:r>
              <a:t>CSVデータの処理、メールの下書き</a:t>
            </a:r>
            <a:br/>
            <a:r>
              <a:t>などを自動でこなします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3474720" cy="2377440"/>
          </a:xfrm>
          <a:prstGeom prst="roundRect">
            <a:avLst/>
          </a:prstGeom>
          <a:solidFill>
            <a:srgbClr val="F5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95344"/>
            <a:ext cx="3291840" cy="4572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Meiryo"/>
              </a:defRPr>
            </a:pPr>
            <a:r>
              <a:t>スマートホーム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eiryo"/>
              </a:defRPr>
            </a:pPr>
            <a:r>
              <a:t>IoT機器の制御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Meiryo"/>
              </a:defRPr>
            </a:pPr>
            <a:r>
              <a:t>照明のON/OFF、エアコンの調整、</a:t>
            </a:r>
            <a:br/>
            <a:r>
              <a:t>セキュリティカメラの確認など</a:t>
            </a:r>
            <a:br/>
            <a:r>
              <a:t>家電をAIで声掛け操作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840480"/>
            <a:ext cx="3474720" cy="237744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895344"/>
            <a:ext cx="3291840" cy="45720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3E3E"/>
                </a:solidFill>
                <a:latin typeface="Meiryo"/>
              </a:defRPr>
            </a:pPr>
            <a:r>
              <a:t>記憶（メモリ）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eiryo"/>
              </a:defRPr>
            </a:pPr>
            <a:r>
              <a:t>会話を覚えてくれる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Meiryo"/>
              </a:defRPr>
            </a:pPr>
            <a:r>
              <a:t>過去に話した内容をMarkdownファイルに</a:t>
            </a:r>
            <a:br/>
            <a:r>
              <a:t>自動保存。あなたの好みや履歴を</a:t>
            </a:r>
            <a:br/>
            <a:r>
              <a:t>踏まえた応答をしてくれます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840480"/>
            <a:ext cx="3474720" cy="2377440"/>
          </a:xfrm>
          <a:prstGeom prst="round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895344"/>
            <a:ext cx="3291840" cy="457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BC9C"/>
                </a:solidFill>
                <a:latin typeface="Meiryo"/>
              </a:defRPr>
            </a:pPr>
            <a:r>
              <a:t>自動スケジュール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343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eiryo"/>
              </a:defRPr>
            </a:pPr>
            <a:r>
              <a:t>自律的にタスク実行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7548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Meiryo"/>
              </a:defRPr>
            </a:pPr>
            <a:r>
              <a:t>「毎朝ニュースをまとめて」など</a:t>
            </a:r>
            <a:br/>
            <a:r>
              <a:t>時間指定のタスクを自動実行。</a:t>
            </a:r>
            <a:br/>
            <a:r>
              <a:t>人間が指示しなくても動きます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eiryo"/>
              </a:defRPr>
            </a:pPr>
            <a:r>
              <a:t>システム構成図（アーキテクチャ）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eiryo"/>
              </a:defRPr>
            </a:pPr>
            <a:r>
              <a:t>OpenClawは「自分のPC/サーバーで動く」のが最大のポイント。データは外部に出ません。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eiryo"/>
              </a:defRPr>
            </a:pPr>
            <a:r>
              <a:t>あなた（ユーザー）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2011680" cy="50292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📱 WhatsApp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51760"/>
            <a:ext cx="2011680" cy="50292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💬 Telegram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91840"/>
            <a:ext cx="2011680" cy="50292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🎮 Discord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931920"/>
            <a:ext cx="2011680" cy="50292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📧 iMessage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572000"/>
            <a:ext cx="2011680" cy="50292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🌐 Web UI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77440" y="2148840"/>
            <a:ext cx="640080" cy="228600"/>
          </a:xfrm>
          <a:prstGeom prst="rightArrow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377440" y="2788920"/>
            <a:ext cx="640080" cy="228600"/>
          </a:xfrm>
          <a:prstGeom prst="rightArrow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2377440" y="3429000"/>
            <a:ext cx="640080" cy="228600"/>
          </a:xfrm>
          <a:prstGeom prst="rightArrow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2377440" y="4069080"/>
            <a:ext cx="640080" cy="228600"/>
          </a:xfrm>
          <a:prstGeom prst="rightArrow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2377440" y="4709160"/>
            <a:ext cx="640080" cy="228600"/>
          </a:xfrm>
          <a:prstGeom prst="rightArrow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1554480"/>
            <a:ext cx="2743200" cy="4572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0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3E3E"/>
                </a:solidFill>
                <a:latin typeface="Meiryo"/>
              </a:defRPr>
            </a:pPr>
            <a:r>
              <a:t>Gateway（中継サーバー）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103120"/>
            <a:ext cx="2377440" cy="45720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セッション管理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43200"/>
            <a:ext cx="2377440" cy="3017520"/>
          </a:xfrm>
          <a:prstGeom prst="roundRect">
            <a:avLst/>
          </a:prstGeom>
          <a:solidFill>
            <a:srgbClr val="F0F4FD"/>
          </a:solidFill>
          <a:ln w="25400">
            <a:solidFill>
              <a:srgbClr val="428B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8BCA"/>
                </a:solidFill>
                <a:latin typeface="Meiryo"/>
              </a:defRPr>
            </a:pPr>
            <a:r>
              <a:t>Agent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200400"/>
            <a:ext cx="2011680" cy="41148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コンテキスト構築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8BCA"/>
                </a:solidFill>
                <a:latin typeface="Meiryo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749040"/>
            <a:ext cx="2011680" cy="41148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LLM呼び出し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1148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8BCA"/>
                </a:solidFill>
                <a:latin typeface="Meiryo"/>
              </a:defRPr>
            </a:pPr>
            <a: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297680"/>
            <a:ext cx="2011680" cy="41148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ツール実行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6634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28BCA"/>
                </a:solidFill>
                <a:latin typeface="Meiryo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4846320"/>
            <a:ext cx="2011680" cy="41148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結果を保存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126480" y="3383280"/>
            <a:ext cx="640080" cy="228600"/>
          </a:xfrm>
          <a:prstGeom prst="rightArrow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3063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Meiryo"/>
              </a:defRPr>
            </a:pPr>
            <a:r>
              <a:t>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eiryo"/>
              </a:defRPr>
            </a:pPr>
            <a:r>
              <a:t>外部AIモデル（LLM）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011680"/>
            <a:ext cx="2286000" cy="41148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Claude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2560320"/>
            <a:ext cx="2286000" cy="4114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GPT (OpenAI)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49440" y="3108960"/>
            <a:ext cx="2286000" cy="41148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eiryo"/>
              </a:defRPr>
            </a:pPr>
            <a:r>
              <a:t>DeepSeek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840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eiryo"/>
              </a:defRPr>
            </a:pPr>
            <a:r>
              <a:t>ツール / スキル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126480" y="4572000"/>
            <a:ext cx="640080" cy="228600"/>
          </a:xfrm>
          <a:prstGeom prst="rightArrow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49440" y="4206240"/>
            <a:ext cx="2286000" cy="384048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📂 ファイル操作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4709160"/>
            <a:ext cx="2286000" cy="384048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🌐 ブラウザ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5212080"/>
            <a:ext cx="2286000" cy="384048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🔧 シェル/CLI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5715000"/>
            <a:ext cx="2286000" cy="384048"/>
          </a:xfrm>
          <a:prstGeom prst="round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Meiryo"/>
              </a:defRPr>
            </a:pPr>
            <a:r>
              <a:t>🧩 Skills (ClawHub)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Meiryo"/>
              </a:defRPr>
            </a:pPr>
            <a:r>
              <a:t>メモリ（記憶）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2011680"/>
            <a:ext cx="2286000" cy="20116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84080" y="21488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Meiryo"/>
              </a:defRPr>
            </a:pPr>
            <a:r>
              <a:t>📝 Markdownファイル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2514600"/>
            <a:ext cx="1920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Meiryo"/>
              </a:defRPr>
            </a:pPr>
            <a:r>
              <a:t>会話履歴</a:t>
            </a:r>
            <a:br/>
            <a:r>
              <a:t>好みの設定</a:t>
            </a:r>
            <a:br/>
            <a:r>
              <a:t>タスク記録</a:t>
            </a:r>
            <a:br/>
            <a:br/>
            <a:r>
              <a:t>全てローカルに保存</a:t>
            </a:r>
            <a:br/>
            <a:r>
              <a:t>→ プライバシー安全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743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Meiryo"/>
              </a:defRPr>
            </a:pPr>
            <a:r>
              <a:t>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943600"/>
            <a:ext cx="11274552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8932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Meiryo"/>
              </a:defRPr>
            </a:pPr>
            <a:r>
              <a:t>🔒 ポイント: Gateway（中心のエンジン）は自分のPCやサーバーで動作。メモリ（記憶）もローカルのMarkdownファイルに保存されるため、個人データが外部に漏れません。外部に送られるのはAIモデルへの問いかけだけです。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eiryo"/>
              </a:defRPr>
            </a:pPr>
            <a:r>
              <a:t>🧩  ClawHub（クローハブ）とは？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4552" cy="1280160"/>
          </a:xfrm>
          <a:prstGeom prst="roundRect">
            <a:avLst/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8BCA"/>
                </a:solidFill>
                <a:latin typeface="Meiryo"/>
              </a:defRPr>
            </a:pPr>
            <a:r>
              <a:t>💡 かんたんに言うと…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2C2C"/>
                </a:solidFill>
                <a:latin typeface="Meiryo"/>
              </a:defRPr>
            </a:pPr>
            <a:r>
              <a:t>ClawHubは、OpenClawの「スキル（追加機能）」を探して導入できるマーケットプレイスです。</a:t>
            </a:r>
            <a:br/>
            <a:r>
              <a:t>スマホで言えば「App Store」や「Google Play」のような存在。</a:t>
            </a:r>
            <a:br/>
            <a:r>
              <a:t>AIアシスタントに新しい能力を追加したいとき、ここから1コマンドでインストールできます。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ClawHubの仕組み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2743200" cy="2286000"/>
          </a:xfrm>
          <a:prstGeom prst="roundRect">
            <a:avLst/>
          </a:prstGeom>
          <a:solidFill>
            <a:srgbClr val="F5F0FD"/>
          </a:solidFill>
          <a:ln w="25400"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C2C2C"/>
                </a:solidFill>
                <a:latin typeface="Meiry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  <a:latin typeface="Meiryo"/>
              </a:defRPr>
            </a:pPr>
            <a:r>
              <a:t>👨‍💻 Skill開発者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•  SKILL.mdを作成</a:t>
            </a:r>
          </a:p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•  機能をコードで実装</a:t>
            </a:r>
          </a:p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•  clawhub publishで公開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83280" y="4297680"/>
            <a:ext cx="731520" cy="274320"/>
          </a:xfrm>
          <a:prstGeom prst="rightArrow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3E3E"/>
                </a:solidFill>
                <a:latin typeface="Meiryo"/>
              </a:defRPr>
            </a:pPr>
            <a:r>
              <a:t>公開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200400"/>
            <a:ext cx="3474720" cy="2743200"/>
          </a:xfrm>
          <a:prstGeom prst="roundRect">
            <a:avLst/>
          </a:prstGeom>
          <a:solidFill>
            <a:srgbClr val="FDF0F0"/>
          </a:solidFill>
          <a:ln w="25400">
            <a:solidFill>
              <a:srgbClr val="E0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C2C2C"/>
                </a:solidFill>
                <a:latin typeface="Meiry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480560" y="3291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3E3E"/>
                </a:solidFill>
                <a:latin typeface="Meiryo"/>
              </a:defRPr>
            </a:pPr>
            <a:r>
              <a:t>🧩 ClawHub (clawhub.ai)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749039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✓  10,700+ スキル登録</a:t>
            </a:r>
          </a:p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✓  ベクトル検索で高速発見</a:t>
            </a:r>
          </a:p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✓  バージョン管理 (semver)</a:t>
            </a:r>
          </a:p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✓  ★ スター・コメント機能</a:t>
            </a:r>
          </a:p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✓  1コマンドでインストール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55279" y="4297680"/>
            <a:ext cx="731520" cy="274320"/>
          </a:xfrm>
          <a:prstGeom prst="rightArrow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Meiryo"/>
              </a:defRPr>
            </a:pPr>
            <a:r>
              <a:t>導入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383280"/>
            <a:ext cx="2743200" cy="2286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C2C2C"/>
                </a:solidFill>
                <a:latin typeface="Meiry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05256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  <a:latin typeface="Meiryo"/>
              </a:defRPr>
            </a:pPr>
            <a:r>
              <a:t>👤 あなた（ユーザー）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8404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•  clawhub install xxx</a:t>
            </a:r>
          </a:p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•  すぐに新機能が使える</a:t>
            </a:r>
          </a:p>
          <a:p>
            <a:pPr>
              <a:spcAft>
                <a:spcPts val="600"/>
              </a:spcAft>
              <a:defRPr sz="1100">
                <a:solidFill>
                  <a:srgbClr val="2C2C2C"/>
                </a:solidFill>
                <a:latin typeface="Meiryo"/>
              </a:defRPr>
            </a:pPr>
            <a:r>
              <a:t>  •  不要ならuninstall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035040"/>
            <a:ext cx="11274552" cy="64008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1264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56D0D"/>
                </a:solidFill>
                <a:latin typeface="Meiryo"/>
              </a:defRPr>
            </a:pPr>
            <a:r>
              <a:t>⚠️ 注意: 誰でもスキルを公開できるため、悪意のあるスキルが混在するリスクがあります。インストール前にSKILL.mdの内容を確認し、信頼できる開発者のものを選びましょう。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eiryo"/>
              </a:defRPr>
            </a:pPr>
            <a:r>
              <a:t>Skill（スキル）の正体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5029200"/>
          </a:xfrm>
          <a:prstGeom prst="roundRect">
            <a:avLst/>
          </a:prstGeom>
          <a:solidFill>
            <a:srgbClr val="F0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eiryo"/>
              </a:defRPr>
            </a:pPr>
            <a:r>
              <a:t>📄 Skillの正体 = SKILL.md（Markdownファイル）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Meiryo"/>
              </a:defRPr>
            </a:pPr>
            <a:r>
              <a:t>スキルはプログラムではなく、「AIへの指示書」です。</a:t>
            </a:r>
            <a:br/>
            <a:r>
              <a:t>YAMLヘッダー + Markdown本文で構成されます。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45720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9B59B6"/>
                </a:solidFill>
                <a:latin typeface="Courier New"/>
              </a:defRPr>
            </a:pPr>
            <a:r>
              <a:t>---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C2C2C"/>
                </a:solidFill>
                <a:latin typeface="Courier New"/>
              </a:defRPr>
            </a:pPr>
            <a:r>
              <a:t>name: weather-report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C2C2C"/>
                </a:solidFill>
                <a:latin typeface="Courier New"/>
              </a:defRPr>
            </a:pPr>
            <a:r>
              <a:t>version: 1.0.0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C2C2C"/>
                </a:solidFill>
                <a:latin typeface="Courier New"/>
              </a:defRPr>
            </a:pPr>
            <a:r>
              <a:t>description: 天気予報を取得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9B59B6"/>
                </a:solidFill>
                <a:latin typeface="Courier New"/>
              </a:defRPr>
            </a:pPr>
            <a:r>
              <a:t>---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C2C2C"/>
                </a:solidFill>
                <a:latin typeface="Courier New"/>
              </a:defRPr>
            </a:pPr>
          </a:p>
          <a:p>
            <a:pPr algn="l">
              <a:spcAft>
                <a:spcPts val="400"/>
              </a:spcAft>
              <a:defRPr sz="1300" b="1">
                <a:solidFill>
                  <a:srgbClr val="1A1A2E"/>
                </a:solidFill>
                <a:latin typeface="Courier New"/>
              </a:defRPr>
            </a:pPr>
            <a:r>
              <a:t># Weather Report Skill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C2C2C"/>
                </a:solidFill>
                <a:latin typeface="Courier New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666666"/>
                </a:solidFill>
                <a:latin typeface="Courier New"/>
              </a:defRPr>
            </a:pPr>
            <a:r>
              <a:t>## 概要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C2C2C"/>
                </a:solidFill>
                <a:latin typeface="Courier New"/>
              </a:defRPr>
            </a:pPr>
            <a:r>
              <a:t>指定した都市の天気予報を取得して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C2C2C"/>
                </a:solidFill>
                <a:latin typeface="Courier New"/>
              </a:defRPr>
            </a:pPr>
            <a:r>
              <a:t>わかりやすく要約します。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2C2C2C"/>
                </a:solidFill>
                <a:latin typeface="Courier New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666666"/>
                </a:solidFill>
                <a:latin typeface="Courier New"/>
              </a:defRPr>
            </a:pPr>
            <a:r>
              <a:t>## 使い方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C2C2C"/>
                </a:solidFill>
                <a:latin typeface="Courier New"/>
              </a:defRPr>
            </a:pPr>
            <a:r>
              <a:t>「東京の天気を教えて」と聞くだけ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スキルの例（人気カテゴリ）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737360"/>
            <a:ext cx="2651760" cy="10058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737360"/>
            <a:ext cx="54864" cy="1005840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  <a:latin typeface="Meiryo"/>
              </a:defRPr>
            </a:pPr>
            <a:r>
              <a:t>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8BCA"/>
                </a:solidFill>
                <a:latin typeface="Meiryo"/>
              </a:defRPr>
            </a:pPr>
            <a:r>
              <a:t>メール管理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受信メールの要約、返信の下書き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737360"/>
            <a:ext cx="2651760" cy="10058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9680" y="1737360"/>
            <a:ext cx="54864" cy="100584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  <a:latin typeface="Meiryo"/>
              </a:defRPr>
            </a:pPr>
            <a: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Meiryo"/>
              </a:defRPr>
            </a:pPr>
            <a:r>
              <a:t>カレンダー連携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予定の確認・登録・リマインド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926080"/>
            <a:ext cx="2651760" cy="10058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2926080"/>
            <a:ext cx="54864" cy="100584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  <a:latin typeface="Meiryo"/>
              </a:defRPr>
            </a:pPr>
            <a: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Meiryo"/>
              </a:defRPr>
            </a:pPr>
            <a:r>
              <a:t>データ分析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CSVファイルの集計・グラフ作成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2926080"/>
            <a:ext cx="2651760" cy="10058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2926080"/>
            <a:ext cx="54864" cy="100584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  <a:latin typeface="Meiryo"/>
              </a:defRPr>
            </a:pPr>
            <a:r>
              <a:t>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Meiryo"/>
              </a:defRPr>
            </a:pPr>
            <a:r>
              <a:t>ECサイト連携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337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商品情報の取得・価格比較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4114800"/>
            <a:ext cx="2651760" cy="10058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4114800"/>
            <a:ext cx="54864" cy="1005840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  <a:latin typeface="Meiryo"/>
              </a:defRPr>
            </a:pPr>
            <a:r>
              <a:t>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3E3E"/>
                </a:solidFill>
                <a:latin typeface="Meiryo"/>
              </a:defRPr>
            </a:pPr>
            <a:r>
              <a:t>音楽操作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526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Spotify等の再生・プレイリスト管理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4114800"/>
            <a:ext cx="2651760" cy="10058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69680" y="4114800"/>
            <a:ext cx="54864" cy="100584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  <a:latin typeface="Meiryo"/>
              </a:defRPr>
            </a:pPr>
            <a:r>
              <a:t>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BC9C"/>
                </a:solidFill>
                <a:latin typeface="Meiryo"/>
              </a:defRPr>
            </a:pPr>
            <a:r>
              <a:t>ニュース収集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526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指定トピックの最新ニュース要約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5303520"/>
            <a:ext cx="2651760" cy="10058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5303520"/>
            <a:ext cx="54864" cy="1005840"/>
          </a:xfrm>
          <a:prstGeom prst="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  <a:latin typeface="Meiryo"/>
              </a:defRPr>
            </a:pPr>
            <a:r>
              <a:t>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A4A"/>
                </a:solidFill>
                <a:latin typeface="Meiryo"/>
              </a:defRPr>
            </a:pPr>
            <a:r>
              <a:t>メモ・ノート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715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議事録作成、読書メモの整理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69680" y="5303520"/>
            <a:ext cx="2651760" cy="100584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69680" y="5303520"/>
            <a:ext cx="54864" cy="10058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5394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C2C2C"/>
                </a:solidFill>
                <a:latin typeface="Meiryo"/>
              </a:defRPr>
            </a:pPr>
            <a:r>
              <a:t>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7E22"/>
                </a:solidFill>
                <a:latin typeface="Meiryo"/>
              </a:defRPr>
            </a:pPr>
            <a:r>
              <a:t>スマートホーム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715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eiryo"/>
              </a:defRPr>
            </a:pPr>
            <a:r>
              <a:t>照明・エアコン・カメラの制御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eiryo"/>
              </a:defRPr>
            </a:pPr>
            <a:r>
              <a:t>使い方ガイド（セットアップ編）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1371600"/>
            <a:ext cx="914400" cy="914400"/>
          </a:xfrm>
          <a:prstGeom prst="ellipse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28BCA"/>
                </a:solidFill>
                <a:latin typeface="Meiryo"/>
              </a:defRPr>
            </a:pPr>
            <a:r>
              <a:t>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  <a:latin typeface="Meiryo"/>
              </a:defRPr>
            </a:pPr>
            <a:r>
              <a:t>インストール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24688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ECC71"/>
                </a:solidFill>
                <a:latin typeface="Courier New"/>
              </a:defRPr>
            </a:pPr>
            <a:r>
              <a:t>npm install -g 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eiryo"/>
              </a:defRPr>
            </a:pPr>
            <a:r>
              <a:t>Node.jsがあればターミナルで</a:t>
            </a:r>
            <a:br/>
            <a:r>
              <a:t>1コマンドでインストール完了</a:t>
            </a:r>
          </a:p>
        </p:txBody>
      </p:sp>
      <p:sp>
        <p:nvSpPr>
          <p:cNvPr id="10" name="Oval 9"/>
          <p:cNvSpPr/>
          <p:nvPr/>
        </p:nvSpPr>
        <p:spPr>
          <a:xfrm>
            <a:off x="4160520" y="1371600"/>
            <a:ext cx="914400" cy="914400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ECC71"/>
                </a:solidFill>
                <a:latin typeface="Meiryo"/>
              </a:defRPr>
            </a:pPr>
            <a:r>
              <a:t>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  <a:latin typeface="Meiryo"/>
              </a:defRPr>
            </a:pPr>
            <a:r>
              <a:t>初期設定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834640"/>
            <a:ext cx="24688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ECC71"/>
                </a:solidFill>
                <a:latin typeface="Courier New"/>
              </a:defRPr>
            </a:pPr>
            <a:r>
              <a:t>openclaw init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4747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eiryo"/>
              </a:defRPr>
            </a:pPr>
            <a:r>
              <a:t>対話形式で設定ファイルを作成。</a:t>
            </a:r>
            <a:br/>
            <a:r>
              <a:t>使うAIモデルのAPIキーを入力</a:t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1371600"/>
            <a:ext cx="914400" cy="91440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600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9C12"/>
                </a:solidFill>
                <a:latin typeface="Meiryo"/>
              </a:defRPr>
            </a:pPr>
            <a:r>
              <a:t>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  <a:latin typeface="Meiryo"/>
              </a:defRPr>
            </a:pPr>
            <a:r>
              <a:t>チャネル接続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834640"/>
            <a:ext cx="24688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ECC71"/>
                </a:solidFill>
                <a:latin typeface="Courier New"/>
              </a:defRPr>
            </a:pPr>
            <a:r>
              <a:t>設定ファイルにアプリのトークンを記入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747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eiryo"/>
              </a:defRPr>
            </a:pPr>
            <a:r>
              <a:t>WhatsApp / Telegram / Discord</a:t>
            </a:r>
            <a:br/>
            <a:r>
              <a:t>など好きなアプリと接続</a:t>
            </a:r>
          </a:p>
        </p:txBody>
      </p:sp>
      <p:sp>
        <p:nvSpPr>
          <p:cNvPr id="22" name="Oval 21"/>
          <p:cNvSpPr/>
          <p:nvPr/>
        </p:nvSpPr>
        <p:spPr>
          <a:xfrm>
            <a:off x="10012680" y="1371600"/>
            <a:ext cx="914400" cy="914400"/>
          </a:xfrm>
          <a:prstGeom prst="ellipse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  <a:latin typeface="Meiryo"/>
              </a:defRPr>
            </a:pPr>
            <a:r>
              <a:t>起動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834640"/>
            <a:ext cx="2468880" cy="4572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880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ECC71"/>
                </a:solidFill>
                <a:latin typeface="Courier New"/>
              </a:defRPr>
            </a:pPr>
            <a:r>
              <a:t>openclaw start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47472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eiryo"/>
              </a:defRPr>
            </a:pPr>
            <a:r>
              <a:t>Gatewayが起動し、チャットで</a:t>
            </a:r>
            <a:br/>
            <a:r>
              <a:t>AIアシスタントとやり取り開始！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11274552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eiryo"/>
              </a:defRPr>
            </a:pPr>
            <a:r>
              <a:t>🧩 Skillの導入方法（ClawHub）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20640"/>
            <a:ext cx="914400" cy="45720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探す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  <a:latin typeface="Meiryo"/>
              </a:defRPr>
            </a:pPr>
            <a:r>
              <a:t>clawhub.ai でスキルを検索</a:t>
            </a:r>
            <a:br/>
            <a:r>
              <a:t>または clawhub search &lt;キーワード&gt;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5120640"/>
            <a:ext cx="914400" cy="4572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入れる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669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  <a:latin typeface="Meiryo"/>
              </a:defRPr>
            </a:pPr>
            <a:r>
              <a:t>clawhub install &lt;スキル名&gt;</a:t>
            </a:r>
            <a:br/>
            <a:r>
              <a:t>例: clawhub install weather-report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120640"/>
            <a:ext cx="914400" cy="457200"/>
          </a:xfrm>
          <a:prstGeom prst="round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使う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669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  <a:latin typeface="Meiryo"/>
              </a:defRPr>
            </a:pPr>
            <a:r>
              <a:t>チャットで「天気を教えて」と話すだけ</a:t>
            </a:r>
            <a:br/>
            <a:r>
              <a:t>AIが自動的にスキルを選んで実行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5120640"/>
            <a:ext cx="914400" cy="4572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Meiryo"/>
              </a:defRPr>
            </a:pPr>
            <a:r>
              <a:t>管理する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669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2C2C"/>
                </a:solidFill>
                <a:latin typeface="Meiryo"/>
              </a:defRPr>
            </a:pPr>
            <a:r>
              <a:t>clawhub list で一覧確認</a:t>
            </a:r>
            <a:br/>
            <a:r>
              <a:t>clawhub uninstall で削除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eiryo"/>
              </a:defRPr>
            </a:pPr>
            <a:r>
              <a:t>✨ OpenClaw &amp; ClawHub の何が画期的なのか？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160020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1600200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eiryo"/>
              </a:defRPr>
            </a:pPr>
            <a: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03E3E"/>
                </a:solidFill>
                <a:latin typeface="Meiryo"/>
              </a:defRPr>
            </a:pPr>
            <a:r>
              <a:t>完全ローカル＆プライバシー重視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459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AIアシスタントなのに、データは全て自分のPCに保存。</a:t>
            </a:r>
            <a:br/>
            <a:r>
              <a:t>クラウドに個人情報を預ける不安がありません。</a:t>
            </a:r>
            <a:br/>
            <a:r>
              <a:t>テレメトリ（使用状況の送信）も一切なし。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94960" cy="160020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73152" cy="1600200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eiryo"/>
              </a:defRPr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eiryo"/>
              </a:defRPr>
            </a:pPr>
            <a:r>
              <a:t>どのAIモデルでも使える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6459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Claude・GPT・DeepSeekなど、好きなAIを選べます。</a:t>
            </a:r>
            <a:br/>
            <a:r>
              <a:t>特定の会社に縛られない「モデル非依存」設計。</a:t>
            </a:r>
            <a:br/>
            <a:r>
              <a:t>将来、新しいAIが出ても簡単に切り替え可能。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5394960" cy="160020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73152" cy="160020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eiryo"/>
              </a:defRPr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54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Meiryo"/>
              </a:defRPr>
            </a:pPr>
            <a:r>
              <a:t>いつものアプリからAIを使える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新しいアプリのインストール不要。</a:t>
            </a:r>
            <a:br/>
            <a:r>
              <a:t>WhatsApp・LINE・Discord等、普段使いの</a:t>
            </a:r>
            <a:br/>
            <a:r>
              <a:t>チャットアプリがそのままAIの入口になります。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017520"/>
            <a:ext cx="5394960" cy="160020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017520"/>
            <a:ext cx="73152" cy="160020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154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eiryo"/>
              </a:defRPr>
            </a:pPr>
            <a: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154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eiryo"/>
              </a:defRPr>
            </a:pPr>
            <a:r>
              <a:t>AIが自分から動いてくれる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4747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指示を待つだけのAIではありません。</a:t>
            </a:r>
            <a:br/>
            <a:r>
              <a:t>「毎朝ニュースをまとめて送信」のように</a:t>
            </a:r>
            <a:br/>
            <a:r>
              <a:t>スケジュール設定で自律的にタスクを実行。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5394960" cy="160020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73152" cy="160020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eiryo"/>
              </a:defRPr>
            </a:pPr>
            <a:r>
              <a:t>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Meiryo"/>
              </a:defRPr>
            </a:pPr>
            <a:r>
              <a:t>スキルで無限に拡張できる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035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ClawHubで10,700以上のスキルが利用可能。</a:t>
            </a:r>
            <a:br/>
            <a:r>
              <a:t>必要な機能を1コマンドで追加。</a:t>
            </a:r>
            <a:br/>
            <a:r>
              <a:t>自作スキルの公開もカンタン。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846320"/>
            <a:ext cx="5394960" cy="160020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846320"/>
            <a:ext cx="73152" cy="16002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eiryo"/>
              </a:defRPr>
            </a:pPr>
            <a:r>
              <a:t>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983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  <a:latin typeface="Meiryo"/>
              </a:defRPr>
            </a:pPr>
            <a:r>
              <a:t>世界中が育てるオープンソース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3035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eiryo"/>
              </a:defRPr>
            </a:pPr>
            <a:r>
              <a:t>600人以上の開発者が参加するコミュニティ。</a:t>
            </a:r>
            <a:br/>
            <a:r>
              <a:t>バグ修正や新機能が毎週のように追加。</a:t>
            </a:r>
            <a:br/>
            <a:r>
              <a:t>商用利用も含め、完全無料（MIT License）。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eiryo"/>
              </a:defRPr>
            </a:pPr>
            <a:r>
              <a:t>従来のAIサービスとの比較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73152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比較項目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097280"/>
            <a:ext cx="2560320" cy="73152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ChatGPT等</a:t>
            </a:r>
            <a:br/>
            <a:r>
              <a:t>クラウドAI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097280"/>
            <a:ext cx="2743200" cy="73152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他のAIエージェント</a:t>
            </a:r>
            <a:br/>
            <a:r>
              <a:t>(AutoGPT等)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097280"/>
            <a:ext cx="2743200" cy="731520"/>
          </a:xfrm>
          <a:prstGeom prst="round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eiryo"/>
              </a:defRPr>
            </a:pPr>
            <a:r>
              <a:t>OpenClaw</a:t>
            </a:r>
            <a:br/>
            <a:r>
              <a:t>+ ClawHub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560320" cy="6858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Meiryo"/>
              </a:defRPr>
            </a:pPr>
            <a:r>
              <a:t>データの保管場所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920240"/>
            <a:ext cx="2560320" cy="6858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クラウド</a:t>
            </a:r>
            <a:br/>
            <a:r>
              <a:t>（サービス提供者側）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20240"/>
            <a:ext cx="2743200" cy="6858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659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主にクラウド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920240"/>
            <a:ext cx="2743200" cy="685800"/>
          </a:xfrm>
          <a:prstGeom prst="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659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3E3E"/>
                </a:solidFill>
                <a:latin typeface="Meiryo"/>
              </a:defRPr>
            </a:pPr>
            <a:r>
              <a:t>ローカル（自分のPC）</a:t>
            </a:r>
            <a:br/>
            <a:r>
              <a:t>完全に自分の管理下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97480"/>
            <a:ext cx="2560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Meiryo"/>
              </a:defRPr>
            </a:pPr>
            <a:r>
              <a:t>対応チャットアプリ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697480"/>
            <a:ext cx="2560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7432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専用Webサイト</a:t>
            </a:r>
            <a:br/>
            <a:r>
              <a:t>のみ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69748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743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専用UIが多い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697480"/>
            <a:ext cx="2743200" cy="685800"/>
          </a:xfrm>
          <a:prstGeom prst="rect">
            <a:avLst/>
          </a:prstGeom>
          <a:solidFill>
            <a:srgbClr val="FF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743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3E3E"/>
                </a:solidFill>
                <a:latin typeface="Meiryo"/>
              </a:defRPr>
            </a:pPr>
            <a:r>
              <a:t>WhatsApp/Telegram/</a:t>
            </a:r>
            <a:br/>
            <a:r>
              <a:t>Discord/LINE等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74720"/>
            <a:ext cx="2560320" cy="6858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Meiryo"/>
              </a:defRPr>
            </a:pPr>
            <a:r>
              <a:t>拡張性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474720"/>
            <a:ext cx="2560320" cy="6858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5204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プラグイン</a:t>
            </a:r>
            <a:br/>
            <a:r>
              <a:t>（限定的）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474720"/>
            <a:ext cx="2743200" cy="6858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3520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ツール追加可能</a:t>
            </a:r>
            <a:br/>
            <a:r>
              <a:t>（手動設定が多い）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3474720"/>
            <a:ext cx="2743200" cy="685800"/>
          </a:xfrm>
          <a:prstGeom prst="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52044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3E3E"/>
                </a:solidFill>
                <a:latin typeface="Meiryo"/>
              </a:defRPr>
            </a:pPr>
            <a:r>
              <a:t>ClawHubで10,700+</a:t>
            </a:r>
            <a:br/>
            <a:r>
              <a:t>スキルを1コマンド導入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51960"/>
            <a:ext cx="2560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343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Meiryo"/>
              </a:defRPr>
            </a:pPr>
            <a:r>
              <a:t>自律的な動作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4251960"/>
            <a:ext cx="2560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4297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指示待ち</a:t>
            </a:r>
            <a:br/>
            <a:r>
              <a:t>（受動的）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25196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4297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一部対応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4251960"/>
            <a:ext cx="2743200" cy="685800"/>
          </a:xfrm>
          <a:prstGeom prst="rect">
            <a:avLst/>
          </a:prstGeom>
          <a:solidFill>
            <a:srgbClr val="FF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42976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3E3E"/>
                </a:solidFill>
                <a:latin typeface="Meiryo"/>
              </a:defRPr>
            </a:pPr>
            <a:r>
              <a:t>スケジュール実行</a:t>
            </a:r>
            <a:br/>
            <a:r>
              <a:t>（能動的に動く）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29200"/>
            <a:ext cx="2560320" cy="6858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120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Meiryo"/>
              </a:defRPr>
            </a:pPr>
            <a:r>
              <a:t>コスト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5029200"/>
            <a:ext cx="2560320" cy="6858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5074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月額サブスク</a:t>
            </a:r>
            <a:br/>
            <a:r>
              <a:t>$20/月〜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029200"/>
            <a:ext cx="2743200" cy="6858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5074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無料+API費用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5029200"/>
            <a:ext cx="2743200" cy="685800"/>
          </a:xfrm>
          <a:prstGeom prst="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5074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3E3E"/>
                </a:solidFill>
                <a:latin typeface="Meiryo"/>
              </a:defRPr>
            </a:pPr>
            <a:r>
              <a:t>完全無料（OSS）</a:t>
            </a:r>
            <a:br/>
            <a:r>
              <a:t>+ API費用のみ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806440"/>
            <a:ext cx="2560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97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Meiryo"/>
              </a:defRPr>
            </a:pPr>
            <a:r>
              <a:t>AIモデルの選択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5806440"/>
            <a:ext cx="25603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5852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固定</a:t>
            </a:r>
            <a:br/>
            <a:r>
              <a:t>（GPTのみ等）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5806440"/>
            <a:ext cx="27432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60" y="5852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eiryo"/>
              </a:defRPr>
            </a:pPr>
            <a:r>
              <a:t>一部選択可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5806440"/>
            <a:ext cx="2743200" cy="685800"/>
          </a:xfrm>
          <a:prstGeom prst="rect">
            <a:avLst/>
          </a:prstGeom>
          <a:solidFill>
            <a:srgbClr val="FF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58521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3E3E"/>
                </a:solidFill>
                <a:latin typeface="Meiryo"/>
              </a:defRPr>
            </a:pPr>
            <a:r>
              <a:t>Claude/GPT/DeepSeek</a:t>
            </a:r>
            <a:br/>
            <a:r>
              <a:t>等、自由に選べる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eiryo"/>
              </a:defRPr>
            </a:pPr>
            <a:r>
              <a:t>🛡️  セキュリティに関する注意点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4552" cy="128016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56D0D"/>
                </a:solidFill>
                <a:latin typeface="Meiryo"/>
              </a:defRPr>
            </a:pPr>
            <a:r>
              <a:t>⚠️ 2026年2月に発覚した問題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Meiryo"/>
              </a:defRPr>
            </a:pPr>
            <a:r>
              <a:t>セキュリティ研究者の調査で、ClawHubに登録されていた2,857スキルのうち約341個（約12%）に</a:t>
            </a:r>
            <a:br/>
            <a:r>
              <a:t>悪意のあるコードが含まれていたことが報告されました。主にソーシャルエンジニアリングと</a:t>
            </a:r>
            <a:br/>
            <a:r>
              <a:t>情報窃取（インフォスティーラー）を目的としたものでした。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eiryo"/>
              </a:defRPr>
            </a:pPr>
            <a:r>
              <a:t>安全に使うための5つのポイント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91840"/>
            <a:ext cx="2148840" cy="256032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328416"/>
            <a:ext cx="2057400" cy="45720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862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28BCA"/>
                </a:solidFill>
                <a:latin typeface="Meiryo"/>
              </a:defRPr>
            </a:pPr>
            <a:r>
              <a:t>SKILL.mdを必ず確認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976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Meiryo"/>
              </a:defRPr>
            </a:pPr>
            <a:r>
              <a:t>インストール前にスキルの内容を読み、</a:t>
            </a:r>
            <a:br/>
            <a:r>
              <a:t>不審なコードや権限要求がないか確認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291840"/>
            <a:ext cx="2148840" cy="256032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51760" y="3328416"/>
            <a:ext cx="2057400" cy="457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3474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8862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CC71"/>
                </a:solidFill>
                <a:latin typeface="Meiryo"/>
              </a:defRPr>
            </a:pPr>
            <a:r>
              <a:t>人気のスキルを選ぶ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2976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Meiryo"/>
              </a:defRPr>
            </a:pPr>
            <a:r>
              <a:t>★スターが多く、コメントで評判の良い</a:t>
            </a:r>
            <a:br/>
            <a:r>
              <a:t>スキルを優先的に選びましょう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3291840"/>
            <a:ext cx="2148840" cy="256032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80" y="3328416"/>
            <a:ext cx="2057400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74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862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  <a:latin typeface="Meiryo"/>
              </a:defRPr>
            </a:pPr>
            <a:r>
              <a:t>開発者の信頼性を確認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976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Meiryo"/>
              </a:defRPr>
            </a:pPr>
            <a:r>
              <a:t>GitHubプロフィールや過去の活動歴を</a:t>
            </a:r>
            <a:br/>
            <a:r>
              <a:t>チェック。新規アカウントは慎重に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3291840"/>
            <a:ext cx="2148840" cy="256032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3328416"/>
            <a:ext cx="2057400" cy="45720"/>
          </a:xfrm>
          <a:prstGeom prst="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474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8862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B59B6"/>
                </a:solidFill>
                <a:latin typeface="Meiryo"/>
              </a:defRPr>
            </a:pPr>
            <a:r>
              <a:t>権限を最小限に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2976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Meiryo"/>
              </a:defRPr>
            </a:pPr>
            <a:r>
              <a:t>スキルに与える権限（ファイルアクセス等）は</a:t>
            </a:r>
            <a:br/>
            <a:r>
              <a:t>必要最小限に設定しましょう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3291840"/>
            <a:ext cx="2148840" cy="256032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46920" y="3328416"/>
            <a:ext cx="2057400" cy="45720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34747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2C2C"/>
                </a:solidFill>
                <a:latin typeface="Meiryo"/>
              </a:defRPr>
            </a:pPr>
            <a: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8862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3E3E"/>
                </a:solidFill>
                <a:latin typeface="Meiryo"/>
              </a:defRPr>
            </a:pPr>
            <a:r>
              <a:t>定期的に更新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29768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2C2C"/>
                </a:solidFill>
                <a:latin typeface="Meiryo"/>
              </a:defRPr>
            </a:pPr>
            <a:r>
              <a:t>OpenClaw本体とスキルを最新版に保つことで</a:t>
            </a:r>
            <a:br/>
            <a:r>
              <a:t>セキュリティパッチを適用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35040"/>
            <a:ext cx="11274552" cy="5486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Meiryo"/>
              </a:defRPr>
            </a:pPr>
            <a:r>
              <a:t>✅ OpenClaw自体のアーキテクチャはローカルファースト設計のため、正しく運用すればデータの安全性は非常に高いです。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eiryo"/>
              </a:defRPr>
            </a:pPr>
            <a: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097280"/>
            <a:ext cx="2130552" cy="27432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5752" cy="86868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73152" cy="868680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3E3E"/>
                </a:solidFill>
                <a:latin typeface="Meiryo"/>
              </a:defRPr>
            </a:pPr>
            <a:r>
              <a:t>OpenClawは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自分のPCで動く、オープンソースのAIアシスタントプラットフォーム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14600"/>
            <a:ext cx="9445752" cy="86868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514600"/>
            <a:ext cx="73152" cy="868680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8BCA"/>
                </a:solidFill>
                <a:latin typeface="Meiryo"/>
              </a:defRPr>
            </a:pPr>
            <a:r>
              <a:t>ClawHubは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7180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AIの能力を拡張する10,700以上のスキルが集まるマーケットプレイス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566160"/>
            <a:ext cx="9445752" cy="86868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566160"/>
            <a:ext cx="73152" cy="8686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eiryo"/>
              </a:defRPr>
            </a:pPr>
            <a:r>
              <a:t>画期的な点は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2336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プライバシー重視・モデル非依存・自律動作・無限の拡張性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617720"/>
            <a:ext cx="9445752" cy="868680"/>
          </a:xfrm>
          <a:prstGeom prst="round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617720"/>
            <a:ext cx="73152" cy="86868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eiryo"/>
              </a:defRPr>
            </a:pPr>
            <a:r>
              <a:t>注意点は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074920"/>
            <a:ext cx="8869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eiryo"/>
              </a:defRPr>
            </a:pPr>
            <a:r>
              <a:t>スキルのセキュリティ確認を怠らないこと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3E3E"/>
                </a:solidFill>
                <a:latin typeface="Meiryo"/>
              </a:defRPr>
            </a:pPr>
            <a:r>
              <a:t>🎯 こんな人におすすめ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Meiryo"/>
              </a:defRPr>
            </a:pPr>
            <a:r>
              <a:t>✓  AIを試してみたいけどプライバシーが心配な人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Meiryo"/>
              </a:defRPr>
            </a:pPr>
            <a:r>
              <a:t>✓  日常の作業を自動化したいビジネスパーソン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Meiryo"/>
              </a:defRPr>
            </a:pPr>
            <a:r>
              <a:t>✓  自分だけのAIアシスタントを作りたい開発者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eiryo"/>
              </a:defRPr>
            </a:pPr>
            <a:r>
              <a:t>🔗  参考リンク・情報源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6576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74552" cy="64008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" cy="640080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8BCA"/>
                </a:solidFill>
                <a:latin typeface="Meiryo"/>
              </a:defRPr>
            </a:pPr>
            <a:r>
              <a:t>OpenClaw 公式サイト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10725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https://openclaw.ai/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11274552" cy="64008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54864" cy="64008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39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eiryo"/>
              </a:defRPr>
            </a:pPr>
            <a:r>
              <a:t>OpenClaw GitHub リポジトリ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13432"/>
            <a:ext cx="10725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https://github.com/openclaw/openclaw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11274552" cy="64008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eiryo"/>
              </a:defRPr>
            </a:pPr>
            <a:r>
              <a:t>OpenClaw 公式ドキュメント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90672"/>
            <a:ext cx="10725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https://docs.openclaw.ai/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20440"/>
            <a:ext cx="11274552" cy="64008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54864" cy="640080"/>
          </a:xfrm>
          <a:prstGeom prst="rect">
            <a:avLst/>
          </a:prstGeom>
          <a:solidFill>
            <a:srgbClr val="E0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93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E3E"/>
                </a:solidFill>
                <a:latin typeface="Meiryo"/>
              </a:defRPr>
            </a:pPr>
            <a:r>
              <a:t>ClawHub（スキルマーケットプレイス）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67912"/>
            <a:ext cx="10725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https://clawhub.ai/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97680"/>
            <a:ext cx="11274552" cy="64008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54864" cy="640080"/>
          </a:xfrm>
          <a:prstGeom prst="rect">
            <a:avLst/>
          </a:prstGeom>
          <a:solidFill>
            <a:srgbClr val="2D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70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3A4A"/>
                </a:solidFill>
                <a:latin typeface="Meiryo"/>
              </a:defRPr>
            </a:pPr>
            <a:r>
              <a:t>ClawHub GitHub リポジトリ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45152"/>
            <a:ext cx="10725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https://github.com/openclaw/clawhub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74920"/>
            <a:ext cx="11274552" cy="640080"/>
          </a:xfrm>
          <a:prstGeom prst="round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54864" cy="64008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48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eiryo"/>
              </a:defRPr>
            </a:pPr>
            <a:r>
              <a:t>OpenClaw Wikipedia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22392"/>
            <a:ext cx="10725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ourier New"/>
              </a:defRPr>
            </a:pPr>
            <a:r>
              <a:t>https://en.wikipedia.org/wiki/OpenClaw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Meiryo"/>
              </a:defRPr>
            </a:pPr>
            <a:r>
              <a:t>本資料は2026年3月時点の情報に基づいています。最新情報は公式サイトをご確認ください。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