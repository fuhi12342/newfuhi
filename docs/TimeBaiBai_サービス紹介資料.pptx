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8C876C"/>
        </a:solidFill>
        <a:effectLst/>
      </p:bgPr>
    </p:bg>
    <p:spTree>
      <p:nvGrpSpPr>
        <p:cNvPr id="1" name=""/>
        <p:cNvGrpSpPr/>
        <p:nvPr/>
      </p:nvGrpSpPr>
      <p:grpSpPr/>
      <p:sp>
        <p:nvSpPr>
          <p:cNvPr id="2" name="TextBox 1"/>
          <p:cNvSpPr txBox="1"/>
          <p:nvPr/>
        </p:nvSpPr>
        <p:spPr>
          <a:xfrm>
            <a:off x="914400" y="1371600"/>
            <a:ext cx="10058400" cy="1097280"/>
          </a:xfrm>
          <a:prstGeom prst="rect">
            <a:avLst/>
          </a:prstGeom>
          <a:noFill/>
        </p:spPr>
        <p:txBody>
          <a:bodyPr wrap="square">
            <a:spAutoFit/>
          </a:bodyPr>
          <a:lstStyle/>
          <a:p>
            <a:pPr algn="ctr">
              <a:defRPr sz="4200" b="1">
                <a:solidFill>
                  <a:srgbClr val="FFFFFF"/>
                </a:solidFill>
                <a:latin typeface="Meiryo"/>
              </a:defRPr>
            </a:pPr>
            <a:r>
              <a:t>店舗DXオールインワンプラットフォーム</a:t>
            </a:r>
          </a:p>
        </p:txBody>
      </p:sp>
      <p:sp>
        <p:nvSpPr>
          <p:cNvPr id="3" name="TextBox 2"/>
          <p:cNvSpPr txBox="1"/>
          <p:nvPr/>
        </p:nvSpPr>
        <p:spPr>
          <a:xfrm>
            <a:off x="914400" y="2560320"/>
            <a:ext cx="10058400" cy="731520"/>
          </a:xfrm>
          <a:prstGeom prst="rect">
            <a:avLst/>
          </a:prstGeom>
          <a:noFill/>
        </p:spPr>
        <p:txBody>
          <a:bodyPr wrap="square">
            <a:spAutoFit/>
          </a:bodyPr>
          <a:lstStyle/>
          <a:p>
            <a:pPr algn="ctr">
              <a:defRPr sz="2200" b="0">
                <a:solidFill>
                  <a:srgbClr val="F1F0EC"/>
                </a:solidFill>
                <a:latin typeface="Meiryo"/>
              </a:defRPr>
            </a:pPr>
            <a:r>
              <a:t>予約・注文・決済・スタッフ管理・給与計算を</a:t>
            </a:r>
            <a:br/>
            <a:r>
              <a:t>ひとつのシステムで完結</a:t>
            </a:r>
          </a:p>
        </p:txBody>
      </p:sp>
      <p:sp>
        <p:nvSpPr>
          <p:cNvPr id="4" name="Rectangle 3"/>
          <p:cNvSpPr/>
          <p:nvPr/>
        </p:nvSpPr>
        <p:spPr>
          <a:xfrm>
            <a:off x="4572000" y="3657600"/>
            <a:ext cx="3044952" cy="27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114800"/>
            <a:ext cx="10058400" cy="548640"/>
          </a:xfrm>
          <a:prstGeom prst="rect">
            <a:avLst/>
          </a:prstGeom>
          <a:noFill/>
        </p:spPr>
        <p:txBody>
          <a:bodyPr wrap="square">
            <a:spAutoFit/>
          </a:bodyPr>
          <a:lstStyle/>
          <a:p>
            <a:pPr algn="ctr">
              <a:defRPr sz="2400" b="0">
                <a:solidFill>
                  <a:srgbClr val="FFFFFF"/>
                </a:solidFill>
                <a:latin typeface="Meiryo"/>
              </a:defRPr>
            </a:pPr>
            <a:r>
              <a:t>TimeBaiBai  サービスご紹介資料</a:t>
            </a:r>
          </a:p>
        </p:txBody>
      </p:sp>
      <p:sp>
        <p:nvSpPr>
          <p:cNvPr id="6" name="TextBox 5"/>
          <p:cNvSpPr txBox="1"/>
          <p:nvPr/>
        </p:nvSpPr>
        <p:spPr>
          <a:xfrm>
            <a:off x="914400" y="5029200"/>
            <a:ext cx="10058400" cy="365760"/>
          </a:xfrm>
          <a:prstGeom prst="rect">
            <a:avLst/>
          </a:prstGeom>
          <a:noFill/>
        </p:spPr>
        <p:txBody>
          <a:bodyPr wrap="square">
            <a:spAutoFit/>
          </a:bodyPr>
          <a:lstStyle/>
          <a:p>
            <a:pPr algn="ctr">
              <a:defRPr sz="1400" b="0">
                <a:solidFill>
                  <a:srgbClr val="F1F0EC"/>
                </a:solidFill>
                <a:latin typeface="Meiryo"/>
              </a:defRPr>
            </a:pPr>
            <a:r>
              <a:t>2026年  /  株式会社○○○○</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3200" b="1">
                <a:solidFill>
                  <a:srgbClr val="8C876C"/>
                </a:solidFill>
                <a:latin typeface="Meiryo"/>
              </a:defRPr>
            </a:pPr>
            <a:r>
              <a:t>こんなお悩みありませんか？</a:t>
            </a:r>
          </a:p>
        </p:txBody>
      </p:sp>
      <p:sp>
        <p:nvSpPr>
          <p:cNvPr id="3" name="Rectangle 2"/>
          <p:cNvSpPr/>
          <p:nvPr/>
        </p:nvSpPr>
        <p:spPr>
          <a:xfrm>
            <a:off x="731520" y="100584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120640" cy="201168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731520" cy="731520"/>
          </a:xfrm>
          <a:prstGeom prst="rect">
            <a:avLst/>
          </a:prstGeom>
          <a:noFill/>
        </p:spPr>
        <p:txBody>
          <a:bodyPr wrap="square">
            <a:spAutoFit/>
          </a:bodyPr>
          <a:lstStyle/>
          <a:p>
            <a:pPr algn="ctr">
              <a:defRPr sz="3600" b="0">
                <a:solidFill>
                  <a:srgbClr val="333333"/>
                </a:solidFill>
                <a:latin typeface="Meiryo"/>
              </a:defRPr>
            </a:pPr>
            <a:r>
              <a:t>📞</a:t>
            </a:r>
          </a:p>
        </p:txBody>
      </p:sp>
      <p:sp>
        <p:nvSpPr>
          <p:cNvPr id="6" name="TextBox 5"/>
          <p:cNvSpPr txBox="1"/>
          <p:nvPr/>
        </p:nvSpPr>
        <p:spPr>
          <a:xfrm>
            <a:off x="1828800" y="1691640"/>
            <a:ext cx="3657600" cy="365760"/>
          </a:xfrm>
          <a:prstGeom prst="rect">
            <a:avLst/>
          </a:prstGeom>
          <a:noFill/>
        </p:spPr>
        <p:txBody>
          <a:bodyPr wrap="square">
            <a:spAutoFit/>
          </a:bodyPr>
          <a:lstStyle/>
          <a:p>
            <a:pPr algn="l">
              <a:defRPr sz="2000" b="1">
                <a:solidFill>
                  <a:srgbClr val="333333"/>
                </a:solidFill>
                <a:latin typeface="Meiryo"/>
              </a:defRPr>
            </a:pPr>
            <a:r>
              <a:t>予約管理がバラバラ</a:t>
            </a:r>
          </a:p>
        </p:txBody>
      </p:sp>
      <p:sp>
        <p:nvSpPr>
          <p:cNvPr id="7" name="TextBox 6"/>
          <p:cNvSpPr txBox="1"/>
          <p:nvPr/>
        </p:nvSpPr>
        <p:spPr>
          <a:xfrm>
            <a:off x="1828800" y="2148840"/>
            <a:ext cx="3657600" cy="1097280"/>
          </a:xfrm>
          <a:prstGeom prst="rect">
            <a:avLst/>
          </a:prstGeom>
          <a:noFill/>
        </p:spPr>
        <p:txBody>
          <a:bodyPr wrap="square">
            <a:spAutoFit/>
          </a:bodyPr>
          <a:lstStyle/>
          <a:p>
            <a:pPr algn="l">
              <a:defRPr sz="1400" b="0">
                <a:solidFill>
                  <a:srgbClr val="999999"/>
                </a:solidFill>
                <a:latin typeface="Meiryo"/>
              </a:defRPr>
            </a:pPr>
            <a:r>
              <a:t>電話・LINE・メール…受付方法がバラバラで</a:t>
            </a:r>
            <a:br/>
            <a:r>
              <a:t>ダブルブッキングが怖い</a:t>
            </a:r>
          </a:p>
        </p:txBody>
      </p:sp>
      <p:sp>
        <p:nvSpPr>
          <p:cNvPr id="8" name="Rounded Rectangle 7"/>
          <p:cNvSpPr/>
          <p:nvPr/>
        </p:nvSpPr>
        <p:spPr>
          <a:xfrm>
            <a:off x="6400800" y="1463040"/>
            <a:ext cx="5120640" cy="201168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1645920"/>
            <a:ext cx="731520" cy="731520"/>
          </a:xfrm>
          <a:prstGeom prst="rect">
            <a:avLst/>
          </a:prstGeom>
          <a:noFill/>
        </p:spPr>
        <p:txBody>
          <a:bodyPr wrap="square">
            <a:spAutoFit/>
          </a:bodyPr>
          <a:lstStyle/>
          <a:p>
            <a:pPr algn="ctr">
              <a:defRPr sz="3600" b="0">
                <a:solidFill>
                  <a:srgbClr val="333333"/>
                </a:solidFill>
                <a:latin typeface="Meiryo"/>
              </a:defRPr>
            </a:pPr>
            <a:r>
              <a:t>😰</a:t>
            </a:r>
          </a:p>
        </p:txBody>
      </p:sp>
      <p:sp>
        <p:nvSpPr>
          <p:cNvPr id="10" name="TextBox 9"/>
          <p:cNvSpPr txBox="1"/>
          <p:nvPr/>
        </p:nvSpPr>
        <p:spPr>
          <a:xfrm>
            <a:off x="7498080" y="1691640"/>
            <a:ext cx="3657600" cy="365760"/>
          </a:xfrm>
          <a:prstGeom prst="rect">
            <a:avLst/>
          </a:prstGeom>
          <a:noFill/>
        </p:spPr>
        <p:txBody>
          <a:bodyPr wrap="square">
            <a:spAutoFit/>
          </a:bodyPr>
          <a:lstStyle/>
          <a:p>
            <a:pPr algn="l">
              <a:defRPr sz="2000" b="1">
                <a:solidFill>
                  <a:srgbClr val="333333"/>
                </a:solidFill>
                <a:latin typeface="Meiryo"/>
              </a:defRPr>
            </a:pPr>
            <a:r>
              <a:t>ドタキャン・無断キャンセル</a:t>
            </a:r>
          </a:p>
        </p:txBody>
      </p:sp>
      <p:sp>
        <p:nvSpPr>
          <p:cNvPr id="11" name="TextBox 10"/>
          <p:cNvSpPr txBox="1"/>
          <p:nvPr/>
        </p:nvSpPr>
        <p:spPr>
          <a:xfrm>
            <a:off x="7498080" y="2148840"/>
            <a:ext cx="3657600" cy="1097280"/>
          </a:xfrm>
          <a:prstGeom prst="rect">
            <a:avLst/>
          </a:prstGeom>
          <a:noFill/>
        </p:spPr>
        <p:txBody>
          <a:bodyPr wrap="square">
            <a:spAutoFit/>
          </a:bodyPr>
          <a:lstStyle/>
          <a:p>
            <a:pPr algn="l">
              <a:defRPr sz="1400" b="0">
                <a:solidFill>
                  <a:srgbClr val="999999"/>
                </a:solidFill>
                <a:latin typeface="Meiryo"/>
              </a:defRPr>
            </a:pPr>
            <a:r>
              <a:t>予約を入れたのに来ない…</a:t>
            </a:r>
            <a:br/>
            <a:r>
              <a:t>売上損失と準備のムダが痛い</a:t>
            </a:r>
          </a:p>
        </p:txBody>
      </p:sp>
      <p:sp>
        <p:nvSpPr>
          <p:cNvPr id="12" name="Rounded Rectangle 11"/>
          <p:cNvSpPr/>
          <p:nvPr/>
        </p:nvSpPr>
        <p:spPr>
          <a:xfrm>
            <a:off x="731520" y="3840480"/>
            <a:ext cx="5120640" cy="201168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23360"/>
            <a:ext cx="731520" cy="731520"/>
          </a:xfrm>
          <a:prstGeom prst="rect">
            <a:avLst/>
          </a:prstGeom>
          <a:noFill/>
        </p:spPr>
        <p:txBody>
          <a:bodyPr wrap="square">
            <a:spAutoFit/>
          </a:bodyPr>
          <a:lstStyle/>
          <a:p>
            <a:pPr algn="ctr">
              <a:defRPr sz="3600" b="0">
                <a:solidFill>
                  <a:srgbClr val="333333"/>
                </a:solidFill>
                <a:latin typeface="Meiryo"/>
              </a:defRPr>
            </a:pPr>
            <a:r>
              <a:t>📝</a:t>
            </a:r>
          </a:p>
        </p:txBody>
      </p:sp>
      <p:sp>
        <p:nvSpPr>
          <p:cNvPr id="14" name="TextBox 13"/>
          <p:cNvSpPr txBox="1"/>
          <p:nvPr/>
        </p:nvSpPr>
        <p:spPr>
          <a:xfrm>
            <a:off x="1828800" y="4069080"/>
            <a:ext cx="3657600" cy="365760"/>
          </a:xfrm>
          <a:prstGeom prst="rect">
            <a:avLst/>
          </a:prstGeom>
          <a:noFill/>
        </p:spPr>
        <p:txBody>
          <a:bodyPr wrap="square">
            <a:spAutoFit/>
          </a:bodyPr>
          <a:lstStyle/>
          <a:p>
            <a:pPr algn="l">
              <a:defRPr sz="2000" b="1">
                <a:solidFill>
                  <a:srgbClr val="333333"/>
                </a:solidFill>
                <a:latin typeface="Meiryo"/>
              </a:defRPr>
            </a:pPr>
            <a:r>
              <a:t>注文対応が大変</a:t>
            </a:r>
          </a:p>
        </p:txBody>
      </p:sp>
      <p:sp>
        <p:nvSpPr>
          <p:cNvPr id="15" name="TextBox 14"/>
          <p:cNvSpPr txBox="1"/>
          <p:nvPr/>
        </p:nvSpPr>
        <p:spPr>
          <a:xfrm>
            <a:off x="1828800" y="4526280"/>
            <a:ext cx="3657600" cy="1097280"/>
          </a:xfrm>
          <a:prstGeom prst="rect">
            <a:avLst/>
          </a:prstGeom>
          <a:noFill/>
        </p:spPr>
        <p:txBody>
          <a:bodyPr wrap="square">
            <a:spAutoFit/>
          </a:bodyPr>
          <a:lstStyle/>
          <a:p>
            <a:pPr algn="l">
              <a:defRPr sz="1400" b="0">
                <a:solidFill>
                  <a:srgbClr val="999999"/>
                </a:solidFill>
                <a:latin typeface="Meiryo"/>
              </a:defRPr>
            </a:pPr>
            <a:r>
              <a:t>忙しい時間帯に注文を取りに行けない</a:t>
            </a:r>
            <a:br/>
            <a:r>
              <a:t>オーダーミスが発生する</a:t>
            </a:r>
          </a:p>
        </p:txBody>
      </p:sp>
      <p:sp>
        <p:nvSpPr>
          <p:cNvPr id="16" name="Rounded Rectangle 15"/>
          <p:cNvSpPr/>
          <p:nvPr/>
        </p:nvSpPr>
        <p:spPr>
          <a:xfrm>
            <a:off x="6400800" y="3840480"/>
            <a:ext cx="5120640" cy="201168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4023360"/>
            <a:ext cx="731520" cy="731520"/>
          </a:xfrm>
          <a:prstGeom prst="rect">
            <a:avLst/>
          </a:prstGeom>
          <a:noFill/>
        </p:spPr>
        <p:txBody>
          <a:bodyPr wrap="square">
            <a:spAutoFit/>
          </a:bodyPr>
          <a:lstStyle/>
          <a:p>
            <a:pPr algn="ctr">
              <a:defRPr sz="3600" b="0">
                <a:solidFill>
                  <a:srgbClr val="333333"/>
                </a:solidFill>
                <a:latin typeface="Meiryo"/>
              </a:defRPr>
            </a:pPr>
            <a:r>
              <a:t>📦</a:t>
            </a:r>
          </a:p>
        </p:txBody>
      </p:sp>
      <p:sp>
        <p:nvSpPr>
          <p:cNvPr id="18" name="TextBox 17"/>
          <p:cNvSpPr txBox="1"/>
          <p:nvPr/>
        </p:nvSpPr>
        <p:spPr>
          <a:xfrm>
            <a:off x="7498080" y="4069080"/>
            <a:ext cx="3657600" cy="365760"/>
          </a:xfrm>
          <a:prstGeom prst="rect">
            <a:avLst/>
          </a:prstGeom>
          <a:noFill/>
        </p:spPr>
        <p:txBody>
          <a:bodyPr wrap="square">
            <a:spAutoFit/>
          </a:bodyPr>
          <a:lstStyle/>
          <a:p>
            <a:pPr algn="l">
              <a:defRPr sz="2000" b="1">
                <a:solidFill>
                  <a:srgbClr val="333333"/>
                </a:solidFill>
                <a:latin typeface="Meiryo"/>
              </a:defRPr>
            </a:pPr>
            <a:r>
              <a:t>在庫がわからない</a:t>
            </a:r>
          </a:p>
        </p:txBody>
      </p:sp>
      <p:sp>
        <p:nvSpPr>
          <p:cNvPr id="19" name="TextBox 18"/>
          <p:cNvSpPr txBox="1"/>
          <p:nvPr/>
        </p:nvSpPr>
        <p:spPr>
          <a:xfrm>
            <a:off x="7498080" y="4526280"/>
            <a:ext cx="3657600" cy="1097280"/>
          </a:xfrm>
          <a:prstGeom prst="rect">
            <a:avLst/>
          </a:prstGeom>
          <a:noFill/>
        </p:spPr>
        <p:txBody>
          <a:bodyPr wrap="square">
            <a:spAutoFit/>
          </a:bodyPr>
          <a:lstStyle/>
          <a:p>
            <a:pPr algn="l">
              <a:defRPr sz="1400" b="0">
                <a:solidFill>
                  <a:srgbClr val="999999"/>
                </a:solidFill>
                <a:latin typeface="Meiryo"/>
              </a:defRPr>
            </a:pPr>
            <a:r>
              <a:t>いつの間にか商品が切れていた</a:t>
            </a:r>
            <a:br/>
            <a:r>
              <a:t>発注タイミングがわからない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sp>
        <p:nvSpPr>
          <p:cNvPr id="2" name="TextBox 1"/>
          <p:cNvSpPr txBox="1"/>
          <p:nvPr/>
        </p:nvSpPr>
        <p:spPr>
          <a:xfrm>
            <a:off x="731520" y="365760"/>
            <a:ext cx="10058400" cy="548640"/>
          </a:xfrm>
          <a:prstGeom prst="rect">
            <a:avLst/>
          </a:prstGeom>
          <a:noFill/>
        </p:spPr>
        <p:txBody>
          <a:bodyPr wrap="square">
            <a:spAutoFit/>
          </a:bodyPr>
          <a:lstStyle/>
          <a:p>
            <a:pPr algn="l">
              <a:defRPr sz="3200" b="1">
                <a:solidFill>
                  <a:srgbClr val="8C876C"/>
                </a:solidFill>
                <a:latin typeface="Meiryo"/>
              </a:defRPr>
            </a:pPr>
            <a:r>
              <a:t>TimeBaiBai がすべて解決します</a:t>
            </a:r>
          </a:p>
        </p:txBody>
      </p:sp>
      <p:sp>
        <p:nvSpPr>
          <p:cNvPr id="3" name="Rectangle 2"/>
          <p:cNvSpPr/>
          <p:nvPr/>
        </p:nvSpPr>
        <p:spPr>
          <a:xfrm>
            <a:off x="731520" y="100584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058400" cy="548640"/>
          </a:xfrm>
          <a:prstGeom prst="rect">
            <a:avLst/>
          </a:prstGeom>
          <a:noFill/>
        </p:spPr>
        <p:txBody>
          <a:bodyPr wrap="square">
            <a:spAutoFit/>
          </a:bodyPr>
          <a:lstStyle/>
          <a:p>
            <a:pPr algn="l">
              <a:defRPr sz="1600" b="0">
                <a:solidFill>
                  <a:srgbClr val="333333"/>
                </a:solidFill>
                <a:latin typeface="Meiryo"/>
              </a:defRPr>
            </a:pPr>
            <a:r>
              <a:t>店舗運営に必要な機能をワンストップで提供。スマホひとつで始められます。</a:t>
            </a:r>
          </a:p>
        </p:txBody>
      </p:sp>
      <p:sp>
        <p:nvSpPr>
          <p:cNvPr id="5" name="Rounded Rectangle 4"/>
          <p:cNvSpPr/>
          <p:nvPr/>
        </p:nvSpPr>
        <p:spPr>
          <a:xfrm>
            <a:off x="914400" y="2103120"/>
            <a:ext cx="2194560"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286000"/>
            <a:ext cx="1828800" cy="548640"/>
          </a:xfrm>
          <a:prstGeom prst="rect">
            <a:avLst/>
          </a:prstGeom>
          <a:noFill/>
        </p:spPr>
        <p:txBody>
          <a:bodyPr wrap="square">
            <a:spAutoFit/>
          </a:bodyPr>
          <a:lstStyle/>
          <a:p>
            <a:pPr algn="ctr">
              <a:defRPr sz="3600" b="1">
                <a:solidFill>
                  <a:srgbClr val="8C876C"/>
                </a:solidFill>
                <a:latin typeface="Meiryo"/>
              </a:defRPr>
            </a:pPr>
            <a:r>
              <a:t>6+</a:t>
            </a:r>
          </a:p>
        </p:txBody>
      </p:sp>
      <p:sp>
        <p:nvSpPr>
          <p:cNvPr id="7" name="TextBox 6"/>
          <p:cNvSpPr txBox="1"/>
          <p:nvPr/>
        </p:nvSpPr>
        <p:spPr>
          <a:xfrm>
            <a:off x="1097280" y="2788920"/>
            <a:ext cx="1828800" cy="274320"/>
          </a:xfrm>
          <a:prstGeom prst="rect">
            <a:avLst/>
          </a:prstGeom>
          <a:noFill/>
        </p:spPr>
        <p:txBody>
          <a:bodyPr wrap="square">
            <a:spAutoFit/>
          </a:bodyPr>
          <a:lstStyle/>
          <a:p>
            <a:pPr algn="ctr">
              <a:defRPr sz="1200" b="0">
                <a:solidFill>
                  <a:srgbClr val="999999"/>
                </a:solidFill>
                <a:latin typeface="Meiryo"/>
              </a:defRPr>
            </a:pPr>
            <a:r>
              <a:t>主要モジュール</a:t>
            </a:r>
          </a:p>
        </p:txBody>
      </p:sp>
      <p:sp>
        <p:nvSpPr>
          <p:cNvPr id="8" name="Rounded Rectangle 7"/>
          <p:cNvSpPr/>
          <p:nvPr/>
        </p:nvSpPr>
        <p:spPr>
          <a:xfrm>
            <a:off x="3657600" y="2103120"/>
            <a:ext cx="2194560"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0" y="2286000"/>
            <a:ext cx="1828800" cy="548640"/>
          </a:xfrm>
          <a:prstGeom prst="rect">
            <a:avLst/>
          </a:prstGeom>
          <a:noFill/>
        </p:spPr>
        <p:txBody>
          <a:bodyPr wrap="square">
            <a:spAutoFit/>
          </a:bodyPr>
          <a:lstStyle/>
          <a:p>
            <a:pPr algn="ctr">
              <a:defRPr sz="3600" b="1">
                <a:solidFill>
                  <a:srgbClr val="8C876C"/>
                </a:solidFill>
                <a:latin typeface="Meiryo"/>
              </a:defRPr>
            </a:pPr>
            <a:r>
              <a:t>7言語</a:t>
            </a:r>
          </a:p>
        </p:txBody>
      </p:sp>
      <p:sp>
        <p:nvSpPr>
          <p:cNvPr id="10" name="TextBox 9"/>
          <p:cNvSpPr txBox="1"/>
          <p:nvPr/>
        </p:nvSpPr>
        <p:spPr>
          <a:xfrm>
            <a:off x="3840480" y="2788920"/>
            <a:ext cx="1828800" cy="274320"/>
          </a:xfrm>
          <a:prstGeom prst="rect">
            <a:avLst/>
          </a:prstGeom>
          <a:noFill/>
        </p:spPr>
        <p:txBody>
          <a:bodyPr wrap="square">
            <a:spAutoFit/>
          </a:bodyPr>
          <a:lstStyle/>
          <a:p>
            <a:pPr algn="ctr">
              <a:defRPr sz="1200" b="0">
                <a:solidFill>
                  <a:srgbClr val="999999"/>
                </a:solidFill>
                <a:latin typeface="Meiryo"/>
              </a:defRPr>
            </a:pPr>
            <a:r>
              <a:t>多言語対応</a:t>
            </a:r>
          </a:p>
        </p:txBody>
      </p:sp>
      <p:sp>
        <p:nvSpPr>
          <p:cNvPr id="11" name="Rounded Rectangle 10"/>
          <p:cNvSpPr/>
          <p:nvPr/>
        </p:nvSpPr>
        <p:spPr>
          <a:xfrm>
            <a:off x="6400800" y="2103120"/>
            <a:ext cx="2194560"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286000"/>
            <a:ext cx="1828800" cy="548640"/>
          </a:xfrm>
          <a:prstGeom prst="rect">
            <a:avLst/>
          </a:prstGeom>
          <a:noFill/>
        </p:spPr>
        <p:txBody>
          <a:bodyPr wrap="square">
            <a:spAutoFit/>
          </a:bodyPr>
          <a:lstStyle/>
          <a:p>
            <a:pPr algn="ctr">
              <a:defRPr sz="3600" b="1">
                <a:solidFill>
                  <a:srgbClr val="8C876C"/>
                </a:solidFill>
                <a:latin typeface="Meiryo"/>
              </a:defRPr>
            </a:pPr>
            <a:r>
              <a:t>24h</a:t>
            </a:r>
          </a:p>
        </p:txBody>
      </p:sp>
      <p:sp>
        <p:nvSpPr>
          <p:cNvPr id="13" name="TextBox 12"/>
          <p:cNvSpPr txBox="1"/>
          <p:nvPr/>
        </p:nvSpPr>
        <p:spPr>
          <a:xfrm>
            <a:off x="6583680" y="2788920"/>
            <a:ext cx="1828800" cy="274320"/>
          </a:xfrm>
          <a:prstGeom prst="rect">
            <a:avLst/>
          </a:prstGeom>
          <a:noFill/>
        </p:spPr>
        <p:txBody>
          <a:bodyPr wrap="square">
            <a:spAutoFit/>
          </a:bodyPr>
          <a:lstStyle/>
          <a:p>
            <a:pPr algn="ctr">
              <a:defRPr sz="1200" b="0">
                <a:solidFill>
                  <a:srgbClr val="999999"/>
                </a:solidFill>
                <a:latin typeface="Meiryo"/>
              </a:defRPr>
            </a:pPr>
            <a:r>
              <a:t>自動受付</a:t>
            </a:r>
          </a:p>
        </p:txBody>
      </p:sp>
      <p:sp>
        <p:nvSpPr>
          <p:cNvPr id="14" name="Rounded Rectangle 13"/>
          <p:cNvSpPr/>
          <p:nvPr/>
        </p:nvSpPr>
        <p:spPr>
          <a:xfrm>
            <a:off x="9144000" y="2103120"/>
            <a:ext cx="2194560" cy="128016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0" y="2286000"/>
            <a:ext cx="1828800" cy="548640"/>
          </a:xfrm>
          <a:prstGeom prst="rect">
            <a:avLst/>
          </a:prstGeom>
          <a:noFill/>
        </p:spPr>
        <p:txBody>
          <a:bodyPr wrap="square">
            <a:spAutoFit/>
          </a:bodyPr>
          <a:lstStyle/>
          <a:p>
            <a:pPr algn="ctr">
              <a:defRPr sz="3600" b="1">
                <a:solidFill>
                  <a:srgbClr val="8C876C"/>
                </a:solidFill>
                <a:latin typeface="Meiryo"/>
              </a:defRPr>
            </a:pPr>
            <a:r>
              <a:t>0円</a:t>
            </a:r>
          </a:p>
        </p:txBody>
      </p:sp>
      <p:sp>
        <p:nvSpPr>
          <p:cNvPr id="16" name="TextBox 15"/>
          <p:cNvSpPr txBox="1"/>
          <p:nvPr/>
        </p:nvSpPr>
        <p:spPr>
          <a:xfrm>
            <a:off x="9326880" y="2788920"/>
            <a:ext cx="1828800" cy="274320"/>
          </a:xfrm>
          <a:prstGeom prst="rect">
            <a:avLst/>
          </a:prstGeom>
          <a:noFill/>
        </p:spPr>
        <p:txBody>
          <a:bodyPr wrap="square">
            <a:spAutoFit/>
          </a:bodyPr>
          <a:lstStyle/>
          <a:p>
            <a:pPr algn="ctr">
              <a:defRPr sz="1200" b="0">
                <a:solidFill>
                  <a:srgbClr val="999999"/>
                </a:solidFill>
                <a:latin typeface="Meiryo"/>
              </a:defRPr>
            </a:pPr>
            <a:r>
              <a:t>紙コスト削減</a:t>
            </a:r>
          </a:p>
        </p:txBody>
      </p:sp>
      <p:sp>
        <p:nvSpPr>
          <p:cNvPr id="17" name="TextBox 16"/>
          <p:cNvSpPr txBox="1"/>
          <p:nvPr/>
        </p:nvSpPr>
        <p:spPr>
          <a:xfrm>
            <a:off x="731520" y="3840480"/>
            <a:ext cx="10515600" cy="2286000"/>
          </a:xfrm>
          <a:prstGeom prst="rect">
            <a:avLst/>
          </a:prstGeom>
          <a:noFill/>
        </p:spPr>
        <p:txBody>
          <a:bodyPr wrap="square">
            <a:spAutoFit/>
          </a:bodyPr>
          <a:lstStyle/>
          <a:p>
            <a:pPr algn="l">
              <a:defRPr sz="1500" b="0">
                <a:solidFill>
                  <a:srgbClr val="333333"/>
                </a:solidFill>
                <a:latin typeface="Meiryo"/>
              </a:defRPr>
            </a:pPr>
            <a:r>
              <a:t>予約管理・テーブル注文・在庫管理・シフト管理・給与計算・ホームページ管理…</a:t>
            </a:r>
            <a:br/>
            <a:r>
              <a:t>これまで別々のツールで行っていた業務を、ひとつの管理画面から操作できます。</a:t>
            </a:r>
            <a:br/>
            <a:br/>
            <a:r>
              <a:t>導入はカンタン。アカウント発行後、最短即日でご利用いただけます。</a:t>
            </a:r>
            <a:br/>
            <a:r>
              <a:t>面倒な設定や工事は不要。いつものスマホ・PCからアクセスするだけです。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主な機能  ①  予約管理 / テーブル注文</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0"/>
            <a:ext cx="5303520" cy="5029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170432"/>
            <a:ext cx="5029200" cy="36576"/>
          </a:xfrm>
          <a:prstGeom prst="rect">
            <a:avLst/>
          </a:prstGeom>
          <a:solidFill>
            <a:srgbClr val="428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4937760" cy="365760"/>
          </a:xfrm>
          <a:prstGeom prst="rect">
            <a:avLst/>
          </a:prstGeom>
          <a:noFill/>
        </p:spPr>
        <p:txBody>
          <a:bodyPr wrap="square">
            <a:spAutoFit/>
          </a:bodyPr>
          <a:lstStyle/>
          <a:p>
            <a:pPr algn="l">
              <a:defRPr sz="1500" b="1">
                <a:solidFill>
                  <a:srgbClr val="428BCA"/>
                </a:solidFill>
                <a:latin typeface="Meiryo"/>
              </a:defRPr>
            </a:pPr>
            <a:r>
              <a:t>オンライン予約システム</a:t>
            </a:r>
          </a:p>
        </p:txBody>
      </p:sp>
      <p:sp>
        <p:nvSpPr>
          <p:cNvPr id="7" name="TextBox 6"/>
          <p:cNvSpPr txBox="1"/>
          <p:nvPr/>
        </p:nvSpPr>
        <p:spPr>
          <a:xfrm>
            <a:off x="640080" y="1645920"/>
            <a:ext cx="4937760" cy="4297680"/>
          </a:xfrm>
          <a:prstGeom prst="rect">
            <a:avLst/>
          </a:prstGeom>
          <a:noFill/>
        </p:spPr>
        <p:txBody>
          <a:bodyPr wrap="square">
            <a:spAutoFit/>
          </a:bodyPr>
          <a:lstStyle/>
          <a:p>
            <a:pPr>
              <a:spcAft>
                <a:spcPts val="600"/>
              </a:spcAft>
              <a:defRPr sz="1100">
                <a:solidFill>
                  <a:srgbClr val="333333"/>
                </a:solidFill>
                <a:latin typeface="Meiryo"/>
              </a:defRPr>
            </a:pPr>
            <a:r>
              <a:t>  ●  LINEから簡単予約 — トーク画面からそのまま予約完了</a:t>
            </a:r>
          </a:p>
          <a:p>
            <a:pPr>
              <a:spcAft>
                <a:spcPts val="600"/>
              </a:spcAft>
              <a:defRPr sz="1100">
                <a:solidFill>
                  <a:srgbClr val="333333"/>
                </a:solidFill>
                <a:latin typeface="Meiryo"/>
              </a:defRPr>
            </a:pPr>
            <a:r>
              <a:t>  ●  メール予約にも対応、お客様の使いやすい方法で受付</a:t>
            </a:r>
          </a:p>
          <a:p>
            <a:pPr>
              <a:spcAft>
                <a:spcPts val="600"/>
              </a:spcAft>
              <a:defRPr sz="1100">
                <a:solidFill>
                  <a:srgbClr val="333333"/>
                </a:solidFill>
                <a:latin typeface="Meiryo"/>
              </a:defRPr>
            </a:pPr>
            <a:r>
              <a:t>  ●  前払い予約確定制 — 決済完了で自動確定（ドタキャン防止）</a:t>
            </a:r>
          </a:p>
          <a:p>
            <a:pPr>
              <a:spcAft>
                <a:spcPts val="600"/>
              </a:spcAft>
              <a:defRPr sz="1100">
                <a:solidFill>
                  <a:srgbClr val="333333"/>
                </a:solidFill>
                <a:latin typeface="Meiryo"/>
              </a:defRPr>
            </a:pPr>
            <a:r>
              <a:t>  ●  前払い/後払いは管理画面からワンクリックで切替可能</a:t>
            </a:r>
          </a:p>
          <a:p>
            <a:pPr>
              <a:spcAft>
                <a:spcPts val="600"/>
              </a:spcAft>
              <a:defRPr sz="1100">
                <a:solidFill>
                  <a:srgbClr val="333333"/>
                </a:solidFill>
                <a:latin typeface="Meiryo"/>
              </a:defRPr>
            </a:pPr>
            <a:r>
              <a:t>  ●  スタッフ別カレンダーで空き状況をリアルタイム表示</a:t>
            </a:r>
          </a:p>
          <a:p>
            <a:pPr>
              <a:spcAft>
                <a:spcPts val="600"/>
              </a:spcAft>
              <a:defRPr sz="1100">
                <a:solidFill>
                  <a:srgbClr val="333333"/>
                </a:solidFill>
                <a:latin typeface="Meiryo"/>
              </a:defRPr>
            </a:pPr>
            <a:r>
              <a:t>  ●  日付から選ぶ → スタッフから選ぶ、2つの予約導線</a:t>
            </a:r>
          </a:p>
          <a:p>
            <a:pPr>
              <a:spcAft>
                <a:spcPts val="600"/>
              </a:spcAft>
              <a:defRPr sz="1100">
                <a:solidFill>
                  <a:srgbClr val="333333"/>
                </a:solidFill>
                <a:latin typeface="Meiryo"/>
              </a:defRPr>
            </a:pPr>
            <a:r>
              <a:t>  ●  QRコードでチェックイン（受付の手間ゼロ）</a:t>
            </a:r>
          </a:p>
          <a:p>
            <a:pPr>
              <a:spcAft>
                <a:spcPts val="600"/>
              </a:spcAft>
              <a:defRPr sz="1100">
                <a:solidFill>
                  <a:srgbClr val="333333"/>
                </a:solidFill>
                <a:latin typeface="Meiryo"/>
              </a:defRPr>
            </a:pPr>
            <a:r>
              <a:t>  ●  予約確定時にスタッフへLINE自動通知</a:t>
            </a:r>
          </a:p>
          <a:p>
            <a:pPr>
              <a:spcAft>
                <a:spcPts val="600"/>
              </a:spcAft>
              <a:defRPr sz="1100">
                <a:solidFill>
                  <a:srgbClr val="333333"/>
                </a:solidFill>
                <a:latin typeface="Meiryo"/>
              </a:defRPr>
            </a:pPr>
            <a:r>
              <a:t>  ●  7言語対応（日本語・英語・中韓・スペイン語・ポルトガル語）</a:t>
            </a:r>
          </a:p>
        </p:txBody>
      </p:sp>
      <p:sp>
        <p:nvSpPr>
          <p:cNvPr id="8" name="Rounded Rectangle 7"/>
          <p:cNvSpPr/>
          <p:nvPr/>
        </p:nvSpPr>
        <p:spPr>
          <a:xfrm>
            <a:off x="6309360" y="1097280"/>
            <a:ext cx="5303520" cy="5029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1170432"/>
            <a:ext cx="5029200" cy="36576"/>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280160"/>
            <a:ext cx="4937760" cy="365760"/>
          </a:xfrm>
          <a:prstGeom prst="rect">
            <a:avLst/>
          </a:prstGeom>
          <a:noFill/>
        </p:spPr>
        <p:txBody>
          <a:bodyPr wrap="square">
            <a:spAutoFit/>
          </a:bodyPr>
          <a:lstStyle/>
          <a:p>
            <a:pPr algn="l">
              <a:defRPr sz="1500" b="1">
                <a:solidFill>
                  <a:srgbClr val="4CAF50"/>
                </a:solidFill>
                <a:latin typeface="Meiryo"/>
              </a:defRPr>
            </a:pPr>
            <a:r>
              <a:t>QRテーブル注文システム</a:t>
            </a:r>
          </a:p>
        </p:txBody>
      </p:sp>
      <p:sp>
        <p:nvSpPr>
          <p:cNvPr id="11" name="TextBox 10"/>
          <p:cNvSpPr txBox="1"/>
          <p:nvPr/>
        </p:nvSpPr>
        <p:spPr>
          <a:xfrm>
            <a:off x="6492240" y="1645920"/>
            <a:ext cx="4937760" cy="4297680"/>
          </a:xfrm>
          <a:prstGeom prst="rect">
            <a:avLst/>
          </a:prstGeom>
          <a:noFill/>
        </p:spPr>
        <p:txBody>
          <a:bodyPr wrap="square">
            <a:spAutoFit/>
          </a:bodyPr>
          <a:lstStyle/>
          <a:p>
            <a:pPr>
              <a:spcAft>
                <a:spcPts val="600"/>
              </a:spcAft>
              <a:defRPr sz="1100">
                <a:solidFill>
                  <a:srgbClr val="333333"/>
                </a:solidFill>
                <a:latin typeface="Meiryo"/>
              </a:defRPr>
            </a:pPr>
            <a:r>
              <a:t>  ●  各テーブルにQRコードを設置するだけでスタート</a:t>
            </a:r>
          </a:p>
          <a:p>
            <a:pPr>
              <a:spcAft>
                <a:spcPts val="600"/>
              </a:spcAft>
              <a:defRPr sz="1100">
                <a:solidFill>
                  <a:srgbClr val="333333"/>
                </a:solidFill>
                <a:latin typeface="Meiryo"/>
              </a:defRPr>
            </a:pPr>
            <a:r>
              <a:t>  ●  お客様がスマホでスキャン → メニュー閲覧 → 注文</a:t>
            </a:r>
          </a:p>
          <a:p>
            <a:pPr>
              <a:spcAft>
                <a:spcPts val="600"/>
              </a:spcAft>
              <a:defRPr sz="1100">
                <a:solidFill>
                  <a:srgbClr val="333333"/>
                </a:solidFill>
                <a:latin typeface="Meiryo"/>
              </a:defRPr>
            </a:pPr>
            <a:r>
              <a:t>  ●  写真付きメニューで料理のイメージが伝わる</a:t>
            </a:r>
          </a:p>
          <a:p>
            <a:pPr>
              <a:spcAft>
                <a:spcPts val="600"/>
              </a:spcAft>
              <a:defRPr sz="1100">
                <a:solidFill>
                  <a:srgbClr val="333333"/>
                </a:solidFill>
                <a:latin typeface="Meiryo"/>
              </a:defRPr>
            </a:pPr>
            <a:r>
              <a:t>  ●  カテゴリ別タブで欲しい商品がすぐ見つかる</a:t>
            </a:r>
          </a:p>
          <a:p>
            <a:pPr>
              <a:spcAft>
                <a:spcPts val="600"/>
              </a:spcAft>
              <a:defRPr sz="1100">
                <a:solidFill>
                  <a:srgbClr val="333333"/>
                </a:solidFill>
                <a:latin typeface="Meiryo"/>
              </a:defRPr>
            </a:pPr>
            <a:r>
              <a:t>  ●  カート機能で追加注文もラクラク</a:t>
            </a:r>
          </a:p>
          <a:p>
            <a:pPr>
              <a:spcAft>
                <a:spcPts val="600"/>
              </a:spcAft>
              <a:defRPr sz="1100">
                <a:solidFill>
                  <a:srgbClr val="333333"/>
                </a:solidFill>
                <a:latin typeface="Meiryo"/>
              </a:defRPr>
            </a:pPr>
            <a:r>
              <a:t>  ●  注文履歴をリアルタイムでステータス表示</a:t>
            </a:r>
          </a:p>
          <a:p>
            <a:pPr>
              <a:spcAft>
                <a:spcPts val="600"/>
              </a:spcAft>
              <a:defRPr sz="1100">
                <a:solidFill>
                  <a:srgbClr val="333333"/>
                </a:solidFill>
                <a:latin typeface="Meiryo"/>
              </a:defRPr>
            </a:pPr>
            <a:r>
              <a:t>  ●  現金・クレジットカード・電子マネー決済対応</a:t>
            </a:r>
          </a:p>
          <a:p>
            <a:pPr>
              <a:spcAft>
                <a:spcPts val="600"/>
              </a:spcAft>
              <a:defRPr sz="1100">
                <a:solidFill>
                  <a:srgbClr val="333333"/>
                </a:solidFill>
                <a:latin typeface="Meiryo"/>
              </a:defRPr>
            </a:pPr>
            <a:r>
              <a:t>  ●  管理画面からQRコード一括生成＆印刷用DL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主な機能  ②  在庫管理 / スタッフ・シフト管理</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0"/>
            <a:ext cx="5303520" cy="5029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170432"/>
            <a:ext cx="5029200" cy="36576"/>
          </a:xfrm>
          <a:prstGeom prst="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4937760" cy="365760"/>
          </a:xfrm>
          <a:prstGeom prst="rect">
            <a:avLst/>
          </a:prstGeom>
          <a:noFill/>
        </p:spPr>
        <p:txBody>
          <a:bodyPr wrap="square">
            <a:spAutoFit/>
          </a:bodyPr>
          <a:lstStyle/>
          <a:p>
            <a:pPr algn="l">
              <a:defRPr sz="1500" b="1">
                <a:solidFill>
                  <a:srgbClr val="FF9800"/>
                </a:solidFill>
                <a:latin typeface="Meiryo"/>
              </a:defRPr>
            </a:pPr>
            <a:r>
              <a:t>在庫管理</a:t>
            </a:r>
          </a:p>
        </p:txBody>
      </p:sp>
      <p:sp>
        <p:nvSpPr>
          <p:cNvPr id="7" name="TextBox 6"/>
          <p:cNvSpPr txBox="1"/>
          <p:nvPr/>
        </p:nvSpPr>
        <p:spPr>
          <a:xfrm>
            <a:off x="640080" y="1645920"/>
            <a:ext cx="4937760" cy="4297680"/>
          </a:xfrm>
          <a:prstGeom prst="rect">
            <a:avLst/>
          </a:prstGeom>
          <a:noFill/>
        </p:spPr>
        <p:txBody>
          <a:bodyPr wrap="square">
            <a:spAutoFit/>
          </a:bodyPr>
          <a:lstStyle/>
          <a:p>
            <a:pPr>
              <a:spcAft>
                <a:spcPts val="600"/>
              </a:spcAft>
              <a:defRPr sz="1100">
                <a:solidFill>
                  <a:srgbClr val="333333"/>
                </a:solidFill>
                <a:latin typeface="Meiryo"/>
              </a:defRPr>
            </a:pPr>
            <a:r>
              <a:t>  ●  商品の在庫数をリアルタイムで把握</a:t>
            </a:r>
          </a:p>
          <a:p>
            <a:pPr>
              <a:spcAft>
                <a:spcPts val="600"/>
              </a:spcAft>
              <a:defRPr sz="1100">
                <a:solidFill>
                  <a:srgbClr val="333333"/>
                </a:solidFill>
                <a:latin typeface="Meiryo"/>
              </a:defRPr>
            </a:pPr>
            <a:r>
              <a:t>  ●  注文と連動して自動で在庫を差し引き</a:t>
            </a:r>
          </a:p>
          <a:p>
            <a:pPr>
              <a:spcAft>
                <a:spcPts val="600"/>
              </a:spcAft>
              <a:defRPr sz="1100">
                <a:solidFill>
                  <a:srgbClr val="333333"/>
                </a:solidFill>
                <a:latin typeface="Meiryo"/>
              </a:defRPr>
            </a:pPr>
            <a:r>
              <a:t>  ●  在庫が少なくなったら自動アラート通知</a:t>
            </a:r>
          </a:p>
          <a:p>
            <a:pPr>
              <a:spcAft>
                <a:spcPts val="600"/>
              </a:spcAft>
              <a:defRPr sz="1100">
                <a:solidFill>
                  <a:srgbClr val="333333"/>
                </a:solidFill>
                <a:latin typeface="Meiryo"/>
              </a:defRPr>
            </a:pPr>
            <a:r>
              <a:t>  ●  QRコードで入庫処理（バーコードリーダー不要）</a:t>
            </a:r>
          </a:p>
          <a:p>
            <a:pPr>
              <a:spcAft>
                <a:spcPts val="600"/>
              </a:spcAft>
              <a:defRPr sz="1100">
                <a:solidFill>
                  <a:srgbClr val="333333"/>
                </a:solidFill>
                <a:latin typeface="Meiryo"/>
              </a:defRPr>
            </a:pPr>
            <a:r>
              <a:t>  ●  入出庫の履歴をすべて記録（監査対応）</a:t>
            </a:r>
          </a:p>
          <a:p>
            <a:pPr>
              <a:spcAft>
                <a:spcPts val="600"/>
              </a:spcAft>
              <a:defRPr sz="1100">
                <a:solidFill>
                  <a:srgbClr val="333333"/>
                </a:solidFill>
                <a:latin typeface="Meiryo"/>
              </a:defRPr>
            </a:pPr>
            <a:r>
              <a:t>  ●  商品カテゴリ別の管理で整理しやすい</a:t>
            </a:r>
          </a:p>
          <a:p>
            <a:pPr>
              <a:spcAft>
                <a:spcPts val="600"/>
              </a:spcAft>
              <a:defRPr sz="1100">
                <a:solidFill>
                  <a:srgbClr val="333333"/>
                </a:solidFill>
                <a:latin typeface="Meiryo"/>
              </a:defRPr>
            </a:pPr>
            <a:r>
              <a:t>  ●  ECショップと店頭在庫を一元管理</a:t>
            </a:r>
          </a:p>
          <a:p>
            <a:pPr>
              <a:spcAft>
                <a:spcPts val="600"/>
              </a:spcAft>
              <a:defRPr sz="1100">
                <a:solidFill>
                  <a:srgbClr val="333333"/>
                </a:solidFill>
                <a:latin typeface="Meiryo"/>
              </a:defRPr>
            </a:pPr>
            <a:r>
              <a:t>  ●  棚卸し機能で在庫を一括調整</a:t>
            </a:r>
          </a:p>
        </p:txBody>
      </p:sp>
      <p:sp>
        <p:nvSpPr>
          <p:cNvPr id="8" name="Rounded Rectangle 7"/>
          <p:cNvSpPr/>
          <p:nvPr/>
        </p:nvSpPr>
        <p:spPr>
          <a:xfrm>
            <a:off x="6309360" y="1097280"/>
            <a:ext cx="5303520" cy="5029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1170432"/>
            <a:ext cx="5029200" cy="36576"/>
          </a:xfrm>
          <a:prstGeom prst="rect">
            <a:avLst/>
          </a:prstGeom>
          <a:solidFill>
            <a:srgbClr val="428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280160"/>
            <a:ext cx="4937760" cy="365760"/>
          </a:xfrm>
          <a:prstGeom prst="rect">
            <a:avLst/>
          </a:prstGeom>
          <a:noFill/>
        </p:spPr>
        <p:txBody>
          <a:bodyPr wrap="square">
            <a:spAutoFit/>
          </a:bodyPr>
          <a:lstStyle/>
          <a:p>
            <a:pPr algn="l">
              <a:defRPr sz="1500" b="1">
                <a:solidFill>
                  <a:srgbClr val="428BCA"/>
                </a:solidFill>
                <a:latin typeface="Meiryo"/>
              </a:defRPr>
            </a:pPr>
            <a:r>
              <a:t>スタッフ・シフト管理</a:t>
            </a:r>
          </a:p>
        </p:txBody>
      </p:sp>
      <p:sp>
        <p:nvSpPr>
          <p:cNvPr id="11" name="TextBox 10"/>
          <p:cNvSpPr txBox="1"/>
          <p:nvPr/>
        </p:nvSpPr>
        <p:spPr>
          <a:xfrm>
            <a:off x="6492240" y="1645920"/>
            <a:ext cx="4937760" cy="4297680"/>
          </a:xfrm>
          <a:prstGeom prst="rect">
            <a:avLst/>
          </a:prstGeom>
          <a:noFill/>
        </p:spPr>
        <p:txBody>
          <a:bodyPr wrap="square">
            <a:spAutoFit/>
          </a:bodyPr>
          <a:lstStyle/>
          <a:p>
            <a:pPr>
              <a:spcAft>
                <a:spcPts val="600"/>
              </a:spcAft>
              <a:defRPr sz="1100">
                <a:solidFill>
                  <a:srgbClr val="333333"/>
                </a:solidFill>
                <a:latin typeface="Meiryo"/>
              </a:defRPr>
            </a:pPr>
            <a:r>
              <a:t>  ●  スタッフがスマホからシフト希望を提出</a:t>
            </a:r>
          </a:p>
          <a:p>
            <a:pPr>
              <a:spcAft>
                <a:spcPts val="600"/>
              </a:spcAft>
              <a:defRPr sz="1100">
                <a:solidFill>
                  <a:srgbClr val="333333"/>
                </a:solidFill>
                <a:latin typeface="Meiryo"/>
              </a:defRPr>
            </a:pPr>
            <a:r>
              <a:t>  ●  「出勤可能」「希望」「出勤不可」の3段階で申請</a:t>
            </a:r>
          </a:p>
          <a:p>
            <a:pPr>
              <a:spcAft>
                <a:spcPts val="600"/>
              </a:spcAft>
              <a:defRPr sz="1100">
                <a:solidFill>
                  <a:srgbClr val="333333"/>
                </a:solidFill>
                <a:latin typeface="Meiryo"/>
              </a:defRPr>
            </a:pPr>
            <a:r>
              <a:t>  ●  マネージャーが管理画面でシフトを確定</a:t>
            </a:r>
          </a:p>
          <a:p>
            <a:pPr>
              <a:spcAft>
                <a:spcPts val="600"/>
              </a:spcAft>
              <a:defRPr sz="1100">
                <a:solidFill>
                  <a:srgbClr val="333333"/>
                </a:solidFill>
                <a:latin typeface="Meiryo"/>
              </a:defRPr>
            </a:pPr>
            <a:r>
              <a:t>  ●  自動スケジューリング機能で割り当てを効率化</a:t>
            </a:r>
          </a:p>
          <a:p>
            <a:pPr>
              <a:spcAft>
                <a:spcPts val="600"/>
              </a:spcAft>
              <a:defRPr sz="1100">
                <a:solidFill>
                  <a:srgbClr val="333333"/>
                </a:solidFill>
                <a:latin typeface="Meiryo"/>
              </a:defRPr>
            </a:pPr>
            <a:r>
              <a:t>  ●  確定シフトをスタッフにLINEで自動通知</a:t>
            </a:r>
          </a:p>
          <a:p>
            <a:pPr>
              <a:spcAft>
                <a:spcPts val="600"/>
              </a:spcAft>
              <a:defRPr sz="1100">
                <a:solidFill>
                  <a:srgbClr val="333333"/>
                </a:solidFill>
                <a:latin typeface="Meiryo"/>
              </a:defRPr>
            </a:pPr>
            <a:r>
              <a:t>  ●  スタッフ別のプロフィール・写真・紹介文を管理</a:t>
            </a:r>
          </a:p>
          <a:p>
            <a:pPr>
              <a:spcAft>
                <a:spcPts val="600"/>
              </a:spcAft>
              <a:defRPr sz="1100">
                <a:solidFill>
                  <a:srgbClr val="333333"/>
                </a:solidFill>
                <a:latin typeface="Meiryo"/>
              </a:defRPr>
            </a:pPr>
            <a:r>
              <a:t>  ●  スタッフ種別（キャスト / 店舗スタッフ）で区別</a:t>
            </a:r>
          </a:p>
          <a:p>
            <a:pPr>
              <a:spcAft>
                <a:spcPts val="600"/>
              </a:spcAft>
              <a:defRPr sz="1100">
                <a:solidFill>
                  <a:srgbClr val="333333"/>
                </a:solidFill>
                <a:latin typeface="Meiryo"/>
              </a:defRPr>
            </a:pPr>
            <a:r>
              <a:t>  ●  店長・オーナー・開発者など権限ロールを設定</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主な機能  ③  給与計算 / ホームページ管理</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0"/>
            <a:ext cx="5303520" cy="5029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170432"/>
            <a:ext cx="5029200" cy="36576"/>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4937760" cy="365760"/>
          </a:xfrm>
          <a:prstGeom prst="rect">
            <a:avLst/>
          </a:prstGeom>
          <a:noFill/>
        </p:spPr>
        <p:txBody>
          <a:bodyPr wrap="square">
            <a:spAutoFit/>
          </a:bodyPr>
          <a:lstStyle/>
          <a:p>
            <a:pPr algn="l">
              <a:defRPr sz="1500" b="1">
                <a:solidFill>
                  <a:srgbClr val="4CAF50"/>
                </a:solidFill>
                <a:latin typeface="Meiryo"/>
              </a:defRPr>
            </a:pPr>
            <a:r>
              <a:t>給与計算・勤怠管理</a:t>
            </a:r>
          </a:p>
        </p:txBody>
      </p:sp>
      <p:sp>
        <p:nvSpPr>
          <p:cNvPr id="7" name="TextBox 6"/>
          <p:cNvSpPr txBox="1"/>
          <p:nvPr/>
        </p:nvSpPr>
        <p:spPr>
          <a:xfrm>
            <a:off x="640080" y="1645920"/>
            <a:ext cx="4937760" cy="4297680"/>
          </a:xfrm>
          <a:prstGeom prst="rect">
            <a:avLst/>
          </a:prstGeom>
          <a:noFill/>
        </p:spPr>
        <p:txBody>
          <a:bodyPr wrap="square">
            <a:spAutoFit/>
          </a:bodyPr>
          <a:lstStyle/>
          <a:p>
            <a:pPr>
              <a:spcAft>
                <a:spcPts val="600"/>
              </a:spcAft>
              <a:defRPr sz="1100">
                <a:solidFill>
                  <a:srgbClr val="333333"/>
                </a:solidFill>
                <a:latin typeface="Meiryo"/>
              </a:defRPr>
            </a:pPr>
            <a:r>
              <a:t>  ●  シフトから勤怠データを自動生成</a:t>
            </a:r>
          </a:p>
          <a:p>
            <a:pPr>
              <a:spcAft>
                <a:spcPts val="600"/>
              </a:spcAft>
              <a:defRPr sz="1100">
                <a:solidFill>
                  <a:srgbClr val="333333"/>
                </a:solidFill>
                <a:latin typeface="Meiryo"/>
              </a:defRPr>
            </a:pPr>
            <a:r>
              <a:t>  ●  通常勤務・残業・深夜・休日を自動分類</a:t>
            </a:r>
          </a:p>
          <a:p>
            <a:pPr>
              <a:spcAft>
                <a:spcPts val="600"/>
              </a:spcAft>
              <a:defRPr sz="1100">
                <a:solidFill>
                  <a:srgbClr val="333333"/>
                </a:solidFill>
                <a:latin typeface="Meiryo"/>
              </a:defRPr>
            </a:pPr>
            <a:r>
              <a:t>  ●  時給制・月給制に対応した給与計算</a:t>
            </a:r>
          </a:p>
          <a:p>
            <a:pPr>
              <a:spcAft>
                <a:spcPts val="600"/>
              </a:spcAft>
              <a:defRPr sz="1100">
                <a:solidFill>
                  <a:srgbClr val="333333"/>
                </a:solidFill>
                <a:latin typeface="Meiryo"/>
              </a:defRPr>
            </a:pPr>
            <a:r>
              <a:t>  ●  社会保険料（厚生年金・健康保険等）を自動計算</a:t>
            </a:r>
          </a:p>
          <a:p>
            <a:pPr>
              <a:spcAft>
                <a:spcPts val="600"/>
              </a:spcAft>
              <a:defRPr sz="1100">
                <a:solidFill>
                  <a:srgbClr val="333333"/>
                </a:solidFill>
                <a:latin typeface="Meiryo"/>
              </a:defRPr>
            </a:pPr>
            <a:r>
              <a:t>  ●  所得税・住民税の控除を自動反映</a:t>
            </a:r>
          </a:p>
          <a:p>
            <a:pPr>
              <a:spcAft>
                <a:spcPts val="600"/>
              </a:spcAft>
              <a:defRPr sz="1100">
                <a:solidFill>
                  <a:srgbClr val="333333"/>
                </a:solidFill>
                <a:latin typeface="Meiryo"/>
              </a:defRPr>
            </a:pPr>
            <a:r>
              <a:t>  ●  給与明細をワンクリックで作成</a:t>
            </a:r>
          </a:p>
          <a:p>
            <a:pPr>
              <a:spcAft>
                <a:spcPts val="600"/>
              </a:spcAft>
              <a:defRPr sz="1100">
                <a:solidFill>
                  <a:srgbClr val="333333"/>
                </a:solidFill>
                <a:latin typeface="Meiryo"/>
              </a:defRPr>
            </a:pPr>
            <a:r>
              <a:t>  ●  全銀フォーマットCSVで銀行振込データ出力</a:t>
            </a:r>
          </a:p>
          <a:p>
            <a:pPr>
              <a:spcAft>
                <a:spcPts val="600"/>
              </a:spcAft>
              <a:defRPr sz="1100">
                <a:solidFill>
                  <a:srgbClr val="333333"/>
                </a:solidFill>
                <a:latin typeface="Meiryo"/>
              </a:defRPr>
            </a:pPr>
            <a:r>
              <a:t>  ●  手当（通勤・住宅・家族）の設定も簡単</a:t>
            </a:r>
          </a:p>
        </p:txBody>
      </p:sp>
      <p:sp>
        <p:nvSpPr>
          <p:cNvPr id="8" name="Rounded Rectangle 7"/>
          <p:cNvSpPr/>
          <p:nvPr/>
        </p:nvSpPr>
        <p:spPr>
          <a:xfrm>
            <a:off x="6309360" y="1097280"/>
            <a:ext cx="5303520" cy="5029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1170432"/>
            <a:ext cx="5029200" cy="36576"/>
          </a:xfrm>
          <a:prstGeom prst="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280160"/>
            <a:ext cx="4937760" cy="365760"/>
          </a:xfrm>
          <a:prstGeom prst="rect">
            <a:avLst/>
          </a:prstGeom>
          <a:noFill/>
        </p:spPr>
        <p:txBody>
          <a:bodyPr wrap="square">
            <a:spAutoFit/>
          </a:bodyPr>
          <a:lstStyle/>
          <a:p>
            <a:pPr algn="l">
              <a:defRPr sz="1500" b="1">
                <a:solidFill>
                  <a:srgbClr val="FF9800"/>
                </a:solidFill>
                <a:latin typeface="Meiryo"/>
              </a:defRPr>
            </a:pPr>
            <a:r>
              <a:t>ホームページ・集客管理</a:t>
            </a:r>
          </a:p>
        </p:txBody>
      </p:sp>
      <p:sp>
        <p:nvSpPr>
          <p:cNvPr id="11" name="TextBox 10"/>
          <p:cNvSpPr txBox="1"/>
          <p:nvPr/>
        </p:nvSpPr>
        <p:spPr>
          <a:xfrm>
            <a:off x="6492240" y="1645920"/>
            <a:ext cx="4937760" cy="4297680"/>
          </a:xfrm>
          <a:prstGeom prst="rect">
            <a:avLst/>
          </a:prstGeom>
          <a:noFill/>
        </p:spPr>
        <p:txBody>
          <a:bodyPr wrap="square">
            <a:spAutoFit/>
          </a:bodyPr>
          <a:lstStyle/>
          <a:p>
            <a:pPr>
              <a:spcAft>
                <a:spcPts val="600"/>
              </a:spcAft>
              <a:defRPr sz="1100">
                <a:solidFill>
                  <a:srgbClr val="333333"/>
                </a:solidFill>
                <a:latin typeface="Meiryo"/>
              </a:defRPr>
            </a:pPr>
            <a:r>
              <a:t>  ●  管理画面からお店のホームページを編集</a:t>
            </a:r>
          </a:p>
          <a:p>
            <a:pPr>
              <a:spcAft>
                <a:spcPts val="600"/>
              </a:spcAft>
              <a:defRPr sz="1100">
                <a:solidFill>
                  <a:srgbClr val="333333"/>
                </a:solidFill>
                <a:latin typeface="Meiryo"/>
              </a:defRPr>
            </a:pPr>
            <a:r>
              <a:t>  ●  ヒーローバナー（スライダー）で写真をアピール</a:t>
            </a:r>
          </a:p>
          <a:p>
            <a:pPr>
              <a:spcAft>
                <a:spcPts val="600"/>
              </a:spcAft>
              <a:defRPr sz="1100">
                <a:solidFill>
                  <a:srgbClr val="333333"/>
                </a:solidFill>
                <a:latin typeface="Meiryo"/>
              </a:defRPr>
            </a:pPr>
            <a:r>
              <a:t>  ●  お知らせ・メディア掲載情報を簡単更新</a:t>
            </a:r>
          </a:p>
          <a:p>
            <a:pPr>
              <a:spcAft>
                <a:spcPts val="600"/>
              </a:spcAft>
              <a:defRPr sz="1100">
                <a:solidFill>
                  <a:srgbClr val="333333"/>
                </a:solidFill>
                <a:latin typeface="Meiryo"/>
              </a:defRPr>
            </a:pPr>
            <a:r>
              <a:t>  ●  バナー広告の設置・管理</a:t>
            </a:r>
          </a:p>
          <a:p>
            <a:pPr>
              <a:spcAft>
                <a:spcPts val="600"/>
              </a:spcAft>
              <a:defRPr sz="1100">
                <a:solidFill>
                  <a:srgbClr val="333333"/>
                </a:solidFill>
                <a:latin typeface="Meiryo"/>
              </a:defRPr>
            </a:pPr>
            <a:r>
              <a:t>  ●  SNS連携（X / Instagram）埋め込み表示</a:t>
            </a:r>
          </a:p>
          <a:p>
            <a:pPr>
              <a:spcAft>
                <a:spcPts val="600"/>
              </a:spcAft>
              <a:defRPr sz="1100">
                <a:solidFill>
                  <a:srgbClr val="333333"/>
                </a:solidFill>
                <a:latin typeface="Meiryo"/>
              </a:defRPr>
            </a:pPr>
            <a:r>
              <a:t>  ●  カスタムHTMLブロックで自由にレイアウト</a:t>
            </a:r>
          </a:p>
          <a:p>
            <a:pPr>
              <a:spcAft>
                <a:spcPts val="600"/>
              </a:spcAft>
              <a:defRPr sz="1100">
                <a:solidFill>
                  <a:srgbClr val="333333"/>
                </a:solidFill>
                <a:latin typeface="Meiryo"/>
              </a:defRPr>
            </a:pPr>
            <a:r>
              <a:t>  ●  プライバシーポリシー・特商法表記を管理画面から編集</a:t>
            </a:r>
          </a:p>
          <a:p>
            <a:pPr>
              <a:spcAft>
                <a:spcPts val="600"/>
              </a:spcAft>
              <a:defRPr sz="1100">
                <a:solidFill>
                  <a:srgbClr val="333333"/>
                </a:solidFill>
                <a:latin typeface="Meiryo"/>
              </a:defRPr>
            </a:pPr>
            <a:r>
              <a:t>  ●  ECショップ機能でオンライン販売も可能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主な機能  ④  データ分析 / セキュリティ</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0"/>
            <a:ext cx="5303520" cy="5029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170432"/>
            <a:ext cx="5029200" cy="36576"/>
          </a:xfrm>
          <a:prstGeom prst="rect">
            <a:avLst/>
          </a:prstGeom>
          <a:solidFill>
            <a:srgbClr val="428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4937760" cy="365760"/>
          </a:xfrm>
          <a:prstGeom prst="rect">
            <a:avLst/>
          </a:prstGeom>
          <a:noFill/>
        </p:spPr>
        <p:txBody>
          <a:bodyPr wrap="square">
            <a:spAutoFit/>
          </a:bodyPr>
          <a:lstStyle/>
          <a:p>
            <a:pPr algn="l">
              <a:defRPr sz="1500" b="1">
                <a:solidFill>
                  <a:srgbClr val="428BCA"/>
                </a:solidFill>
                <a:latin typeface="Meiryo"/>
              </a:defRPr>
            </a:pPr>
            <a:r>
              <a:t>データ分析・AI活用</a:t>
            </a:r>
          </a:p>
        </p:txBody>
      </p:sp>
      <p:sp>
        <p:nvSpPr>
          <p:cNvPr id="7" name="TextBox 6"/>
          <p:cNvSpPr txBox="1"/>
          <p:nvPr/>
        </p:nvSpPr>
        <p:spPr>
          <a:xfrm>
            <a:off x="640080" y="1645920"/>
            <a:ext cx="4937760" cy="4297680"/>
          </a:xfrm>
          <a:prstGeom prst="rect">
            <a:avLst/>
          </a:prstGeom>
          <a:noFill/>
        </p:spPr>
        <p:txBody>
          <a:bodyPr wrap="square">
            <a:spAutoFit/>
          </a:bodyPr>
          <a:lstStyle/>
          <a:p>
            <a:pPr>
              <a:spcAft>
                <a:spcPts val="600"/>
              </a:spcAft>
              <a:defRPr sz="1100">
                <a:solidFill>
                  <a:srgbClr val="333333"/>
                </a:solidFill>
                <a:latin typeface="Meiryo"/>
              </a:defRPr>
            </a:pPr>
            <a:r>
              <a:t>  ●  売上ダッシュボードで月次/週次/日次の推移を可視化</a:t>
            </a:r>
          </a:p>
          <a:p>
            <a:pPr>
              <a:spcAft>
                <a:spcPts val="600"/>
              </a:spcAft>
              <a:defRPr sz="1100">
                <a:solidFill>
                  <a:srgbClr val="333333"/>
                </a:solidFill>
                <a:latin typeface="Meiryo"/>
              </a:defRPr>
            </a:pPr>
            <a:r>
              <a:t>  ●  メニューエンジニアリング（Star/Dog分類）で利益改善</a:t>
            </a:r>
          </a:p>
          <a:p>
            <a:pPr>
              <a:spcAft>
                <a:spcPts val="600"/>
              </a:spcAft>
              <a:defRPr sz="1100">
                <a:solidFill>
                  <a:srgbClr val="333333"/>
                </a:solidFill>
                <a:latin typeface="Meiryo"/>
              </a:defRPr>
            </a:pPr>
            <a:r>
              <a:t>  ●  ABC分析・RFM分析・コホート分析・バスケット分析</a:t>
            </a:r>
          </a:p>
          <a:p>
            <a:pPr>
              <a:spcAft>
                <a:spcPts val="600"/>
              </a:spcAft>
              <a:defRPr sz="1100">
                <a:solidFill>
                  <a:srgbClr val="333333"/>
                </a:solidFill>
                <a:latin typeface="Meiryo"/>
              </a:defRPr>
            </a:pPr>
            <a:r>
              <a:t>  ●  NPS（顧客満足度）自動集計でリピーター獲得に貢献</a:t>
            </a:r>
          </a:p>
          <a:p>
            <a:pPr>
              <a:spcAft>
                <a:spcPts val="600"/>
              </a:spcAft>
              <a:defRPr sz="1100">
                <a:solidFill>
                  <a:srgbClr val="333333"/>
                </a:solidFill>
                <a:latin typeface="Meiryo"/>
              </a:defRPr>
            </a:pPr>
            <a:r>
              <a:t>  ●  AIが時間帯別のスタッフ必要人数を自動予測</a:t>
            </a:r>
          </a:p>
          <a:p>
            <a:pPr>
              <a:spcAft>
                <a:spcPts val="600"/>
              </a:spcAft>
              <a:defRPr sz="1100">
                <a:solidFill>
                  <a:srgbClr val="333333"/>
                </a:solidFill>
                <a:latin typeface="Meiryo"/>
              </a:defRPr>
            </a:pPr>
            <a:r>
              <a:t>  ●  来客予測・売上予測で仕入れや人員配置を最適化</a:t>
            </a:r>
          </a:p>
          <a:p>
            <a:pPr>
              <a:spcAft>
                <a:spcPts val="600"/>
              </a:spcAft>
              <a:defRPr sz="1100">
                <a:solidFill>
                  <a:srgbClr val="333333"/>
                </a:solidFill>
                <a:latin typeface="Meiryo"/>
              </a:defRPr>
            </a:pPr>
            <a:r>
              <a:t>  ●  ビジネスインサイトが異常値や改善機会を自動検知</a:t>
            </a:r>
          </a:p>
          <a:p>
            <a:pPr>
              <a:spcAft>
                <a:spcPts val="600"/>
              </a:spcAft>
              <a:defRPr sz="1100">
                <a:solidFill>
                  <a:srgbClr val="333333"/>
                </a:solidFill>
                <a:latin typeface="Meiryo"/>
              </a:defRPr>
            </a:pPr>
            <a:r>
              <a:t>  ●  KPIスコアカードで経営状態をひと目で把握</a:t>
            </a:r>
          </a:p>
        </p:txBody>
      </p:sp>
      <p:sp>
        <p:nvSpPr>
          <p:cNvPr id="8" name="Rounded Rectangle 7"/>
          <p:cNvSpPr/>
          <p:nvPr/>
        </p:nvSpPr>
        <p:spPr>
          <a:xfrm>
            <a:off x="6309360" y="1097280"/>
            <a:ext cx="5303520" cy="5029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46520" y="1170432"/>
            <a:ext cx="5029200" cy="36576"/>
          </a:xfrm>
          <a:prstGeom prst="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280160"/>
            <a:ext cx="4937760" cy="365760"/>
          </a:xfrm>
          <a:prstGeom prst="rect">
            <a:avLst/>
          </a:prstGeom>
          <a:noFill/>
        </p:spPr>
        <p:txBody>
          <a:bodyPr wrap="square">
            <a:spAutoFit/>
          </a:bodyPr>
          <a:lstStyle/>
          <a:p>
            <a:pPr algn="l">
              <a:defRPr sz="1500" b="1">
                <a:solidFill>
                  <a:srgbClr val="FF9800"/>
                </a:solidFill>
                <a:latin typeface="Meiryo"/>
              </a:defRPr>
            </a:pPr>
            <a:r>
              <a:t>セキュリティ・監査</a:t>
            </a:r>
          </a:p>
        </p:txBody>
      </p:sp>
      <p:sp>
        <p:nvSpPr>
          <p:cNvPr id="11" name="TextBox 10"/>
          <p:cNvSpPr txBox="1"/>
          <p:nvPr/>
        </p:nvSpPr>
        <p:spPr>
          <a:xfrm>
            <a:off x="6492240" y="1645920"/>
            <a:ext cx="4937760" cy="4297680"/>
          </a:xfrm>
          <a:prstGeom prst="rect">
            <a:avLst/>
          </a:prstGeom>
          <a:noFill/>
        </p:spPr>
        <p:txBody>
          <a:bodyPr wrap="square">
            <a:spAutoFit/>
          </a:bodyPr>
          <a:lstStyle/>
          <a:p>
            <a:pPr>
              <a:spcAft>
                <a:spcPts val="600"/>
              </a:spcAft>
              <a:defRPr sz="1100">
                <a:solidFill>
                  <a:srgbClr val="333333"/>
                </a:solidFill>
                <a:latin typeface="Meiryo"/>
              </a:defRPr>
            </a:pPr>
            <a:r>
              <a:t>  ●  全アクセスログを自動記録（ログイン/操作/異常検知）</a:t>
            </a:r>
          </a:p>
          <a:p>
            <a:pPr>
              <a:spcAft>
                <a:spcPts val="600"/>
              </a:spcAft>
              <a:defRPr sz="1100">
                <a:solidFill>
                  <a:srgbClr val="333333"/>
                </a:solidFill>
                <a:latin typeface="Meiryo"/>
              </a:defRPr>
            </a:pPr>
            <a:r>
              <a:t>  ●  IP別レートリミットで不正アクセスを自動ブロック</a:t>
            </a:r>
          </a:p>
          <a:p>
            <a:pPr>
              <a:spcAft>
                <a:spcPts val="600"/>
              </a:spcAft>
              <a:defRPr sz="1100">
                <a:solidFill>
                  <a:srgbClr val="333333"/>
                </a:solidFill>
                <a:latin typeface="Meiryo"/>
              </a:defRPr>
            </a:pPr>
            <a:r>
              <a:t>  ●  顧客個人情報はAES暗号化で安全に保管</a:t>
            </a:r>
          </a:p>
          <a:p>
            <a:pPr>
              <a:spcAft>
                <a:spcPts val="600"/>
              </a:spcAft>
              <a:defRPr sz="1100">
                <a:solidFill>
                  <a:srgbClr val="333333"/>
                </a:solidFill>
                <a:latin typeface="Meiryo"/>
              </a:defRPr>
            </a:pPr>
            <a:r>
              <a:t>  ●  セキュリティ自動監査（12項目を毎日チェック）</a:t>
            </a:r>
          </a:p>
          <a:p>
            <a:pPr>
              <a:spcAft>
                <a:spcPts val="600"/>
              </a:spcAft>
              <a:defRPr sz="1100">
                <a:solidFill>
                  <a:srgbClr val="333333"/>
                </a:solidFill>
                <a:latin typeface="Meiryo"/>
              </a:defRPr>
            </a:pPr>
            <a:r>
              <a:t>  ●  権限別アクセス制御（オーナー/店長/スタッフ/開発者）</a:t>
            </a:r>
          </a:p>
          <a:p>
            <a:pPr>
              <a:spcAft>
                <a:spcPts val="600"/>
              </a:spcAft>
              <a:defRPr sz="1100">
                <a:solidFill>
                  <a:srgbClr val="333333"/>
                </a:solidFill>
                <a:latin typeface="Meiryo"/>
              </a:defRPr>
            </a:pPr>
            <a:r>
              <a:t>  ●  操作履歴・シフト変更ログで完全な監査証跡</a:t>
            </a:r>
          </a:p>
          <a:p>
            <a:pPr>
              <a:spcAft>
                <a:spcPts val="600"/>
              </a:spcAft>
              <a:defRPr sz="1100">
                <a:solidFill>
                  <a:srgbClr val="333333"/>
                </a:solidFill>
                <a:latin typeface="Meiryo"/>
              </a:defRPr>
            </a:pPr>
            <a:r>
              <a:t>  ●  SSL暗号化通信・CSRF保護を標準装備</a:t>
            </a:r>
          </a:p>
          <a:p>
            <a:pPr>
              <a:spcAft>
                <a:spcPts val="600"/>
              </a:spcAft>
              <a:defRPr sz="1100">
                <a:solidFill>
                  <a:srgbClr val="333333"/>
                </a:solidFill>
                <a:latin typeface="Meiryo"/>
              </a:defRPr>
            </a:pPr>
            <a:r>
              <a:t>  ●  PCI DSS準拠の外部決済サービスと連携</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お客様向け画面 — トップページ</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ront_top_desktop.png"/>
          <p:cNvPicPr>
            <a:picLocks noChangeAspect="1"/>
          </p:cNvPicPr>
          <p:nvPr/>
        </p:nvPicPr>
        <p:blipFill>
          <a:blip r:embed="rId2"/>
          <a:stretch>
            <a:fillRect/>
          </a:stretch>
        </p:blipFill>
        <p:spPr>
          <a:xfrm>
            <a:off x="2036670" y="1188720"/>
            <a:ext cx="4156258"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お客様が最初に目にする画面</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ヒーローバナーで店舗の魅力をアピール</a:t>
            </a:r>
          </a:p>
          <a:p>
            <a:pPr>
              <a:spcAft>
                <a:spcPts val="600"/>
              </a:spcAft>
              <a:defRPr sz="1200">
                <a:solidFill>
                  <a:srgbClr val="333333"/>
                </a:solidFill>
                <a:latin typeface="Meiryo"/>
              </a:defRPr>
            </a:pPr>
            <a:r>
              <a:t>  ✓  予約方法を選べるわかりやすい導線</a:t>
            </a:r>
          </a:p>
          <a:p>
            <a:pPr>
              <a:spcAft>
                <a:spcPts val="600"/>
              </a:spcAft>
              <a:defRPr sz="1200">
                <a:solidFill>
                  <a:srgbClr val="333333"/>
                </a:solidFill>
                <a:latin typeface="Meiryo"/>
              </a:defRPr>
            </a:pPr>
            <a:r>
              <a:t>  ✓  スタッフランキングで人気キャストをPR</a:t>
            </a:r>
          </a:p>
          <a:p>
            <a:pPr>
              <a:spcAft>
                <a:spcPts val="600"/>
              </a:spcAft>
              <a:defRPr sz="1200">
                <a:solidFill>
                  <a:srgbClr val="333333"/>
                </a:solidFill>
                <a:latin typeface="Meiryo"/>
              </a:defRPr>
            </a:pPr>
            <a:r>
              <a:t>  ✓  お知らせ・メディア掲載を自動表示</a:t>
            </a:r>
          </a:p>
          <a:p>
            <a:pPr>
              <a:spcAft>
                <a:spcPts val="600"/>
              </a:spcAft>
              <a:defRPr sz="1200">
                <a:solidFill>
                  <a:srgbClr val="333333"/>
                </a:solidFill>
                <a:latin typeface="Meiryo"/>
              </a:defRPr>
            </a:pPr>
            <a:r>
              <a:t>  ✓  7言語対応でインバウンド集客にも対応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お客様向け画面 — スタッフ紹介・店舗情報</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ront_staff_list_desktop.png"/>
          <p:cNvPicPr>
            <a:picLocks noChangeAspect="1"/>
          </p:cNvPicPr>
          <p:nvPr/>
        </p:nvPicPr>
        <p:blipFill>
          <a:blip r:embed="rId2"/>
          <a:stretch>
            <a:fillRect/>
          </a:stretch>
        </p:blipFill>
        <p:spPr>
          <a:xfrm>
            <a:off x="2656966" y="1188720"/>
            <a:ext cx="2915666"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お店のスタッフを魅力的に紹介</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スタッフの写真・プロフィールを掲載</a:t>
            </a:r>
          </a:p>
          <a:p>
            <a:pPr>
              <a:spcAft>
                <a:spcPts val="600"/>
              </a:spcAft>
              <a:defRPr sz="1200">
                <a:solidFill>
                  <a:srgbClr val="333333"/>
                </a:solidFill>
                <a:latin typeface="Meiryo"/>
              </a:defRPr>
            </a:pPr>
            <a:r>
              <a:t>  ✓  得意メニュー・資格を表示</a:t>
            </a:r>
          </a:p>
          <a:p>
            <a:pPr>
              <a:spcAft>
                <a:spcPts val="600"/>
              </a:spcAft>
              <a:defRPr sz="1200">
                <a:solidFill>
                  <a:srgbClr val="333333"/>
                </a:solidFill>
                <a:latin typeface="Meiryo"/>
              </a:defRPr>
            </a:pPr>
            <a:r>
              <a:t>  ✓  そのまま予約カレンダーへ遷移</a:t>
            </a:r>
          </a:p>
          <a:p>
            <a:pPr>
              <a:spcAft>
                <a:spcPts val="600"/>
              </a:spcAft>
              <a:defRPr sz="1200">
                <a:solidFill>
                  <a:srgbClr val="333333"/>
                </a:solidFill>
                <a:latin typeface="Meiryo"/>
              </a:defRPr>
            </a:pPr>
            <a:r>
              <a:t>  ✓  店舗情報（営業時間・地図・アクセス）を表示</a:t>
            </a:r>
          </a:p>
          <a:p>
            <a:pPr>
              <a:spcAft>
                <a:spcPts val="600"/>
              </a:spcAft>
              <a:defRPr sz="1200">
                <a:solidFill>
                  <a:srgbClr val="333333"/>
                </a:solidFill>
                <a:latin typeface="Meiryo"/>
              </a:defRPr>
            </a:pPr>
            <a:r>
              <a:t>  ✓  管理画面から簡単に内容を更新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お客様向け画面 — お知らせ</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ront_news_desktop.png"/>
          <p:cNvPicPr>
            <a:picLocks noChangeAspect="1"/>
          </p:cNvPicPr>
          <p:nvPr/>
        </p:nvPicPr>
        <p:blipFill>
          <a:blip r:embed="rId2"/>
          <a:stretch>
            <a:fillRect/>
          </a:stretch>
        </p:blipFill>
        <p:spPr>
          <a:xfrm>
            <a:off x="1849969" y="1188720"/>
            <a:ext cx="4529660"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最新情報をお客様に発信</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新メニュー・キャンペーン情報を簡単投稿</a:t>
            </a:r>
          </a:p>
          <a:p>
            <a:pPr>
              <a:spcAft>
                <a:spcPts val="600"/>
              </a:spcAft>
              <a:defRPr sz="1200">
                <a:solidFill>
                  <a:srgbClr val="333333"/>
                </a:solidFill>
                <a:latin typeface="Meiryo"/>
              </a:defRPr>
            </a:pPr>
            <a:r>
              <a:t>  ✓  管理画面からワンクリックで公開</a:t>
            </a:r>
          </a:p>
          <a:p>
            <a:pPr>
              <a:spcAft>
                <a:spcPts val="600"/>
              </a:spcAft>
              <a:defRPr sz="1200">
                <a:solidFill>
                  <a:srgbClr val="333333"/>
                </a:solidFill>
                <a:latin typeface="Meiryo"/>
              </a:defRPr>
            </a:pPr>
            <a:r>
              <a:t>  ✓  日付順に自動ソートで常に最新情報を表示</a:t>
            </a:r>
          </a:p>
          <a:p>
            <a:pPr>
              <a:spcAft>
                <a:spcPts val="600"/>
              </a:spcAft>
              <a:defRPr sz="1200">
                <a:solidFill>
                  <a:srgbClr val="333333"/>
                </a:solidFill>
                <a:latin typeface="Meiryo"/>
              </a:defRPr>
            </a:pPr>
            <a:r>
              <a:t>  ✓  SNS連携で情報拡散をサポート</a:t>
            </a:r>
          </a:p>
          <a:p>
            <a:pPr>
              <a:spcAft>
                <a:spcPts val="600"/>
              </a:spcAft>
              <a:defRPr sz="1200">
                <a:solidFill>
                  <a:srgbClr val="333333"/>
                </a:solidFill>
                <a:latin typeface="Meiryo"/>
              </a:defRPr>
            </a:pPr>
            <a:r>
              <a:t>  ✓  お客様のリピート来店を促進</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お客様向け画面 — オンラインショップ</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ront_shop_desktop.png"/>
          <p:cNvPicPr>
            <a:picLocks noChangeAspect="1"/>
          </p:cNvPicPr>
          <p:nvPr/>
        </p:nvPicPr>
        <p:blipFill>
          <a:blip r:embed="rId2"/>
          <a:stretch>
            <a:fillRect/>
          </a:stretch>
        </p:blipFill>
        <p:spPr>
          <a:xfrm>
            <a:off x="473456" y="1188720"/>
            <a:ext cx="7282688"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ECで売上チャネルを拡大</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店舗の商品をオンラインで販売</a:t>
            </a:r>
          </a:p>
          <a:p>
            <a:pPr>
              <a:spcAft>
                <a:spcPts val="600"/>
              </a:spcAft>
              <a:defRPr sz="1200">
                <a:solidFill>
                  <a:srgbClr val="333333"/>
                </a:solidFill>
                <a:latin typeface="Meiryo"/>
              </a:defRPr>
            </a:pPr>
            <a:r>
              <a:t>  ✓  商品検索・カテゴリ絞り込み機能</a:t>
            </a:r>
          </a:p>
          <a:p>
            <a:pPr>
              <a:spcAft>
                <a:spcPts val="600"/>
              </a:spcAft>
              <a:defRPr sz="1200">
                <a:solidFill>
                  <a:srgbClr val="333333"/>
                </a:solidFill>
                <a:latin typeface="Meiryo"/>
              </a:defRPr>
            </a:pPr>
            <a:r>
              <a:t>  ✓  カート機能で複数商品をまとめて購入</a:t>
            </a:r>
          </a:p>
          <a:p>
            <a:pPr>
              <a:spcAft>
                <a:spcPts val="600"/>
              </a:spcAft>
              <a:defRPr sz="1200">
                <a:solidFill>
                  <a:srgbClr val="333333"/>
                </a:solidFill>
                <a:latin typeface="Meiryo"/>
              </a:defRPr>
            </a:pPr>
            <a:r>
              <a:t>  ✓  クレジットカード・電子マネーで決済</a:t>
            </a:r>
          </a:p>
          <a:p>
            <a:pPr>
              <a:spcAft>
                <a:spcPts val="600"/>
              </a:spcAft>
              <a:defRPr sz="1200">
                <a:solidFill>
                  <a:srgbClr val="333333"/>
                </a:solidFill>
                <a:latin typeface="Meiryo"/>
              </a:defRPr>
            </a:pPr>
            <a:r>
              <a:t>  ✓  店頭在庫と一元管理で在庫ミスを防止</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お客様向け画面 — QRテーブル注文</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able_order_vp.png"/>
          <p:cNvPicPr>
            <a:picLocks noChangeAspect="1"/>
          </p:cNvPicPr>
          <p:nvPr/>
        </p:nvPicPr>
        <p:blipFill>
          <a:blip r:embed="rId2"/>
          <a:stretch>
            <a:fillRect/>
          </a:stretch>
        </p:blipFill>
        <p:spPr>
          <a:xfrm>
            <a:off x="2931713" y="1188720"/>
            <a:ext cx="2366172"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スマホで簡単オーダー</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テーブルのQRコードをスキャンするだけ</a:t>
            </a:r>
          </a:p>
          <a:p>
            <a:pPr>
              <a:spcAft>
                <a:spcPts val="600"/>
              </a:spcAft>
              <a:defRPr sz="1200">
                <a:solidFill>
                  <a:srgbClr val="333333"/>
                </a:solidFill>
                <a:latin typeface="Meiryo"/>
              </a:defRPr>
            </a:pPr>
            <a:r>
              <a:t>  ✓  写真付きメニューで料理のイメージが伝わる</a:t>
            </a:r>
          </a:p>
          <a:p>
            <a:pPr>
              <a:spcAft>
                <a:spcPts val="600"/>
              </a:spcAft>
              <a:defRPr sz="1200">
                <a:solidFill>
                  <a:srgbClr val="333333"/>
                </a:solidFill>
                <a:latin typeface="Meiryo"/>
              </a:defRPr>
            </a:pPr>
            <a:r>
              <a:t>  ✓  カテゴリ別タブで欲しい商品がすぐ見つかる</a:t>
            </a:r>
          </a:p>
          <a:p>
            <a:pPr>
              <a:spcAft>
                <a:spcPts val="600"/>
              </a:spcAft>
              <a:defRPr sz="1200">
                <a:solidFill>
                  <a:srgbClr val="333333"/>
                </a:solidFill>
                <a:latin typeface="Meiryo"/>
              </a:defRPr>
            </a:pPr>
            <a:r>
              <a:t>  ✓  カート機能で追加注文もラクラク</a:t>
            </a:r>
          </a:p>
          <a:p>
            <a:pPr>
              <a:spcAft>
                <a:spcPts val="600"/>
              </a:spcAft>
              <a:defRPr sz="1200">
                <a:solidFill>
                  <a:srgbClr val="333333"/>
                </a:solidFill>
                <a:latin typeface="Meiryo"/>
              </a:defRPr>
            </a:pPr>
            <a:r>
              <a:t>  ✓  注文状況をリアルタイムで確認</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お客様向け画面 — 予約カレンダー</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ooking_calendar_desktop.png"/>
          <p:cNvPicPr>
            <a:picLocks noChangeAspect="1"/>
          </p:cNvPicPr>
          <p:nvPr/>
        </p:nvPicPr>
        <p:blipFill>
          <a:blip r:embed="rId2"/>
          <a:stretch>
            <a:fillRect/>
          </a:stretch>
        </p:blipFill>
        <p:spPr>
          <a:xfrm>
            <a:off x="473456" y="1188720"/>
            <a:ext cx="7282688"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オンラインで24時間予約受付</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キャスト別の空き状況をカレンダーで一覧表示</a:t>
            </a:r>
          </a:p>
          <a:p>
            <a:pPr>
              <a:spcAft>
                <a:spcPts val="600"/>
              </a:spcAft>
              <a:defRPr sz="1200">
                <a:solidFill>
                  <a:srgbClr val="333333"/>
                </a:solidFill>
                <a:latin typeface="Meiryo"/>
              </a:defRPr>
            </a:pPr>
            <a:r>
              <a:t>  ✓  お客様が好きな日時・時間帯を選んで予約</a:t>
            </a:r>
          </a:p>
          <a:p>
            <a:pPr>
              <a:spcAft>
                <a:spcPts val="600"/>
              </a:spcAft>
              <a:defRPr sz="1200">
                <a:solidFill>
                  <a:srgbClr val="333333"/>
                </a:solidFill>
                <a:latin typeface="Meiryo"/>
              </a:defRPr>
            </a:pPr>
            <a:r>
              <a:t>  ✓  前払い決済で予約確定（ドタキャン防止）</a:t>
            </a:r>
          </a:p>
          <a:p>
            <a:pPr>
              <a:spcAft>
                <a:spcPts val="600"/>
              </a:spcAft>
              <a:defRPr sz="1200">
                <a:solidFill>
                  <a:srgbClr val="333333"/>
                </a:solidFill>
                <a:latin typeface="Meiryo"/>
              </a:defRPr>
            </a:pPr>
            <a:r>
              <a:t>  ✓  LINE・メールでの予約にも対応</a:t>
            </a:r>
          </a:p>
          <a:p>
            <a:pPr>
              <a:spcAft>
                <a:spcPts val="600"/>
              </a:spcAft>
              <a:defRPr sz="1200">
                <a:solidFill>
                  <a:srgbClr val="333333"/>
                </a:solidFill>
                <a:latin typeface="Meiryo"/>
              </a:defRPr>
            </a:pPr>
            <a:r>
              <a:t>  ✓  予約確定時にスタッフへ自動通知</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3200" b="1">
                <a:solidFill>
                  <a:srgbClr val="8C876C"/>
                </a:solidFill>
                <a:latin typeface="Meiryo"/>
              </a:defRPr>
            </a:pPr>
            <a:r>
              <a:t>スマートフォン完全対応</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058400" cy="365760"/>
          </a:xfrm>
          <a:prstGeom prst="rect">
            <a:avLst/>
          </a:prstGeom>
          <a:noFill/>
        </p:spPr>
        <p:txBody>
          <a:bodyPr wrap="square">
            <a:spAutoFit/>
          </a:bodyPr>
          <a:lstStyle/>
          <a:p>
            <a:pPr algn="l">
              <a:defRPr sz="1600" b="0">
                <a:solidFill>
                  <a:srgbClr val="333333"/>
                </a:solidFill>
                <a:latin typeface="Meiryo"/>
              </a:defRPr>
            </a:pPr>
            <a:r>
              <a:t>お客様向けサイトも管理画面も、スマホからそのまま操作できます。</a:t>
            </a:r>
          </a:p>
        </p:txBody>
      </p:sp>
      <p:sp>
        <p:nvSpPr>
          <p:cNvPr id="5" name="Rounded Rectangle 4"/>
          <p:cNvSpPr/>
          <p:nvPr/>
        </p:nvSpPr>
        <p:spPr>
          <a:xfrm>
            <a:off x="1371600" y="1645920"/>
            <a:ext cx="3840480" cy="457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ont_top_mobile_vp.png"/>
          <p:cNvPicPr>
            <a:picLocks noChangeAspect="1"/>
          </p:cNvPicPr>
          <p:nvPr/>
        </p:nvPicPr>
        <p:blipFill>
          <a:blip r:embed="rId2"/>
          <a:stretch>
            <a:fillRect/>
          </a:stretch>
        </p:blipFill>
        <p:spPr>
          <a:xfrm>
            <a:off x="2362272" y="1783080"/>
            <a:ext cx="1859135" cy="4023360"/>
          </a:xfrm>
          <a:prstGeom prst="rect">
            <a:avLst/>
          </a:prstGeom>
        </p:spPr>
      </p:pic>
      <p:sp>
        <p:nvSpPr>
          <p:cNvPr id="7" name="TextBox 6"/>
          <p:cNvSpPr txBox="1"/>
          <p:nvPr/>
        </p:nvSpPr>
        <p:spPr>
          <a:xfrm>
            <a:off x="1371600" y="5760720"/>
            <a:ext cx="3840480" cy="365760"/>
          </a:xfrm>
          <a:prstGeom prst="rect">
            <a:avLst/>
          </a:prstGeom>
          <a:noFill/>
        </p:spPr>
        <p:txBody>
          <a:bodyPr wrap="square">
            <a:spAutoFit/>
          </a:bodyPr>
          <a:lstStyle/>
          <a:p>
            <a:pPr algn="ctr">
              <a:defRPr sz="1400" b="1">
                <a:solidFill>
                  <a:srgbClr val="333333"/>
                </a:solidFill>
                <a:latin typeface="Meiryo"/>
              </a:defRPr>
            </a:pPr>
            <a:r>
              <a:t>お客様向けトップページ</a:t>
            </a:r>
          </a:p>
        </p:txBody>
      </p:sp>
      <p:sp>
        <p:nvSpPr>
          <p:cNvPr id="8" name="Rounded Rectangle 7"/>
          <p:cNvSpPr/>
          <p:nvPr/>
        </p:nvSpPr>
        <p:spPr>
          <a:xfrm>
            <a:off x="6400800" y="1645920"/>
            <a:ext cx="3840480" cy="457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dmin_dashboard_mobile_vp.png"/>
          <p:cNvPicPr>
            <a:picLocks noChangeAspect="1"/>
          </p:cNvPicPr>
          <p:nvPr/>
        </p:nvPicPr>
        <p:blipFill>
          <a:blip r:embed="rId3"/>
          <a:stretch>
            <a:fillRect/>
          </a:stretch>
        </p:blipFill>
        <p:spPr>
          <a:xfrm>
            <a:off x="7391472" y="1783080"/>
            <a:ext cx="1859135" cy="4023360"/>
          </a:xfrm>
          <a:prstGeom prst="rect">
            <a:avLst/>
          </a:prstGeom>
        </p:spPr>
      </p:pic>
      <p:sp>
        <p:nvSpPr>
          <p:cNvPr id="10" name="TextBox 9"/>
          <p:cNvSpPr txBox="1"/>
          <p:nvPr/>
        </p:nvSpPr>
        <p:spPr>
          <a:xfrm>
            <a:off x="6400800" y="5760720"/>
            <a:ext cx="3840480" cy="365760"/>
          </a:xfrm>
          <a:prstGeom prst="rect">
            <a:avLst/>
          </a:prstGeom>
          <a:noFill/>
        </p:spPr>
        <p:txBody>
          <a:bodyPr wrap="square">
            <a:spAutoFit/>
          </a:bodyPr>
          <a:lstStyle/>
          <a:p>
            <a:pPr algn="ctr">
              <a:defRPr sz="1400" b="1">
                <a:solidFill>
                  <a:srgbClr val="333333"/>
                </a:solidFill>
                <a:latin typeface="Meiryo"/>
              </a:defRPr>
            </a:pPr>
            <a:r>
              <a:t>管理画面ダッシュボード</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管理画面 — 売上ダッシュボード</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ashboard_sales_vp.png"/>
          <p:cNvPicPr>
            <a:picLocks noChangeAspect="1"/>
          </p:cNvPicPr>
          <p:nvPr/>
        </p:nvPicPr>
        <p:blipFill>
          <a:blip r:embed="rId2"/>
          <a:stretch>
            <a:fillRect/>
          </a:stretch>
        </p:blipFill>
        <p:spPr>
          <a:xfrm>
            <a:off x="473456" y="1188720"/>
            <a:ext cx="7282688"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経営状況をひと目で把握</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日別・週別・月別の売上推移をグラフで表示</a:t>
            </a:r>
          </a:p>
          <a:p>
            <a:pPr>
              <a:spcAft>
                <a:spcPts val="600"/>
              </a:spcAft>
              <a:defRPr sz="1200">
                <a:solidFill>
                  <a:srgbClr val="333333"/>
                </a:solidFill>
                <a:latin typeface="Meiryo"/>
              </a:defRPr>
            </a:pPr>
            <a:r>
              <a:t>  ✓  予約KPI（件数・キャンセル率）をリアルタイム集計</a:t>
            </a:r>
          </a:p>
          <a:p>
            <a:pPr>
              <a:spcAft>
                <a:spcPts val="600"/>
              </a:spcAft>
              <a:defRPr sz="1200">
                <a:solidFill>
                  <a:srgbClr val="333333"/>
                </a:solidFill>
                <a:latin typeface="Meiryo"/>
              </a:defRPr>
            </a:pPr>
            <a:r>
              <a:t>  ✓  メニューエンジニアリングで人気商品・利益率を分析</a:t>
            </a:r>
          </a:p>
          <a:p>
            <a:pPr>
              <a:spcAft>
                <a:spcPts val="600"/>
              </a:spcAft>
              <a:defRPr sz="1200">
                <a:solidFill>
                  <a:srgbClr val="333333"/>
                </a:solidFill>
                <a:latin typeface="Meiryo"/>
              </a:defRPr>
            </a:pPr>
            <a:r>
              <a:t>  ✓  KPIスコアカードで主要指標を一覧表示</a:t>
            </a:r>
          </a:p>
          <a:p>
            <a:pPr>
              <a:spcAft>
                <a:spcPts val="600"/>
              </a:spcAft>
              <a:defRPr sz="1200">
                <a:solidFill>
                  <a:srgbClr val="333333"/>
                </a:solidFill>
                <a:latin typeface="Meiryo"/>
              </a:defRPr>
            </a:pPr>
            <a:r>
              <a:t>  ✓  ビジネスインサイトが改善機会を自動で提案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管理画面 — シフトカレンダー</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hift_calendar_vp.png"/>
          <p:cNvPicPr>
            <a:picLocks noChangeAspect="1"/>
          </p:cNvPicPr>
          <p:nvPr/>
        </p:nvPicPr>
        <p:blipFill>
          <a:blip r:embed="rId2"/>
          <a:stretch>
            <a:fillRect/>
          </a:stretch>
        </p:blipFill>
        <p:spPr>
          <a:xfrm>
            <a:off x="473456" y="1188720"/>
            <a:ext cx="7282688"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シフト管理を効率化</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スタッフのシフト希望をスマホから受付</a:t>
            </a:r>
          </a:p>
          <a:p>
            <a:pPr>
              <a:spcAft>
                <a:spcPts val="600"/>
              </a:spcAft>
              <a:defRPr sz="1200">
                <a:solidFill>
                  <a:srgbClr val="333333"/>
                </a:solidFill>
                <a:latin typeface="Meiryo"/>
              </a:defRPr>
            </a:pPr>
            <a:r>
              <a:t>  ✓  カレンダー形式で全スタッフの予定を俯瞰</a:t>
            </a:r>
          </a:p>
          <a:p>
            <a:pPr>
              <a:spcAft>
                <a:spcPts val="600"/>
              </a:spcAft>
              <a:defRPr sz="1200">
                <a:solidFill>
                  <a:srgbClr val="333333"/>
                </a:solidFill>
                <a:latin typeface="Meiryo"/>
              </a:defRPr>
            </a:pPr>
            <a:r>
              <a:t>  ✓  自動スケジューリングでワンクリック割り当て</a:t>
            </a:r>
          </a:p>
          <a:p>
            <a:pPr>
              <a:spcAft>
                <a:spcPts val="600"/>
              </a:spcAft>
              <a:defRPr sz="1200">
                <a:solidFill>
                  <a:srgbClr val="333333"/>
                </a:solidFill>
                <a:latin typeface="Meiryo"/>
              </a:defRPr>
            </a:pPr>
            <a:r>
              <a:t>  ✓  人員不足の日を自動検知しアラート表示</a:t>
            </a:r>
          </a:p>
          <a:p>
            <a:pPr>
              <a:spcAft>
                <a:spcPts val="600"/>
              </a:spcAft>
              <a:defRPr sz="1200">
                <a:solidFill>
                  <a:srgbClr val="333333"/>
                </a:solidFill>
                <a:latin typeface="Meiryo"/>
              </a:defRPr>
            </a:pPr>
            <a:r>
              <a:t>  ✓  確定シフトをスタッフにLINEで自動通知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管理画面 — POS レジ</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pos_vp.png"/>
          <p:cNvPicPr>
            <a:picLocks noChangeAspect="1"/>
          </p:cNvPicPr>
          <p:nvPr/>
        </p:nvPicPr>
        <p:blipFill>
          <a:blip r:embed="rId2"/>
          <a:stretch>
            <a:fillRect/>
          </a:stretch>
        </p:blipFill>
        <p:spPr>
          <a:xfrm>
            <a:off x="473456" y="1188720"/>
            <a:ext cx="7282688"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会計をスムーズに</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カテゴリ別タブで商品をすばやく選択</a:t>
            </a:r>
          </a:p>
          <a:p>
            <a:pPr>
              <a:spcAft>
                <a:spcPts val="600"/>
              </a:spcAft>
              <a:defRPr sz="1200">
                <a:solidFill>
                  <a:srgbClr val="333333"/>
                </a:solidFill>
                <a:latin typeface="Meiryo"/>
              </a:defRPr>
            </a:pPr>
            <a:r>
              <a:t>  ✓  現金・クレジットカード・PayPay・交通系ICに対応</a:t>
            </a:r>
          </a:p>
          <a:p>
            <a:pPr>
              <a:spcAft>
                <a:spcPts val="600"/>
              </a:spcAft>
              <a:defRPr sz="1200">
                <a:solidFill>
                  <a:srgbClr val="333333"/>
                </a:solidFill>
                <a:latin typeface="Meiryo"/>
              </a:defRPr>
            </a:pPr>
            <a:r>
              <a:t>  ✓  レシート自動発行・印刷対応</a:t>
            </a:r>
          </a:p>
          <a:p>
            <a:pPr>
              <a:spcAft>
                <a:spcPts val="600"/>
              </a:spcAft>
              <a:defRPr sz="1200">
                <a:solidFill>
                  <a:srgbClr val="333333"/>
                </a:solidFill>
                <a:latin typeface="Meiryo"/>
              </a:defRPr>
            </a:pPr>
            <a:r>
              <a:t>  ✓  キッチンディスプレイと連動してオーダー通知</a:t>
            </a:r>
          </a:p>
          <a:p>
            <a:pPr>
              <a:spcAft>
                <a:spcPts val="600"/>
              </a:spcAft>
              <a:defRPr sz="1200">
                <a:solidFill>
                  <a:srgbClr val="333333"/>
                </a:solidFill>
                <a:latin typeface="Meiryo"/>
              </a:defRPr>
            </a:pPr>
            <a:r>
              <a:t>  ✓  日次・月次の売上レポートを自動生成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管理画面 — 在庫管理</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nventory_vp.png"/>
          <p:cNvPicPr>
            <a:picLocks noChangeAspect="1"/>
          </p:cNvPicPr>
          <p:nvPr/>
        </p:nvPicPr>
        <p:blipFill>
          <a:blip r:embed="rId2"/>
          <a:stretch>
            <a:fillRect/>
          </a:stretch>
        </p:blipFill>
        <p:spPr>
          <a:xfrm>
            <a:off x="473456" y="1188720"/>
            <a:ext cx="7282688"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在庫切れを防止</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全商品の在庫数をリアルタイムで一覧表示</a:t>
            </a:r>
          </a:p>
          <a:p>
            <a:pPr>
              <a:spcAft>
                <a:spcPts val="600"/>
              </a:spcAft>
              <a:defRPr sz="1200">
                <a:solidFill>
                  <a:srgbClr val="333333"/>
                </a:solidFill>
                <a:latin typeface="Meiryo"/>
              </a:defRPr>
            </a:pPr>
            <a:r>
              <a:t>  ✓  注文と連動して在庫を自動で差し引き</a:t>
            </a:r>
          </a:p>
          <a:p>
            <a:pPr>
              <a:spcAft>
                <a:spcPts val="600"/>
              </a:spcAft>
              <a:defRPr sz="1200">
                <a:solidFill>
                  <a:srgbClr val="333333"/>
                </a:solidFill>
                <a:latin typeface="Meiryo"/>
              </a:defRPr>
            </a:pPr>
            <a:r>
              <a:t>  ✓  在庫が少なくなったらアラート通知</a:t>
            </a:r>
          </a:p>
          <a:p>
            <a:pPr>
              <a:spcAft>
                <a:spcPts val="600"/>
              </a:spcAft>
              <a:defRPr sz="1200">
                <a:solidFill>
                  <a:srgbClr val="333333"/>
                </a:solidFill>
                <a:latin typeface="Meiryo"/>
              </a:defRPr>
            </a:pPr>
            <a:r>
              <a:t>  ✓  QRコードで入庫処理（バーコードリーダー不要）</a:t>
            </a:r>
          </a:p>
          <a:p>
            <a:pPr>
              <a:spcAft>
                <a:spcPts val="600"/>
              </a:spcAft>
              <a:defRPr sz="1200">
                <a:solidFill>
                  <a:srgbClr val="333333"/>
                </a:solidFill>
                <a:latin typeface="Meiryo"/>
              </a:defRPr>
            </a:pPr>
            <a:r>
              <a:t>  ✓  入出庫の履歴をすべて記録（監査対応）</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管理画面 — 顧客フィードバック（NPS）</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ustomer_feedback_vp.png"/>
          <p:cNvPicPr>
            <a:picLocks noChangeAspect="1"/>
          </p:cNvPicPr>
          <p:nvPr/>
        </p:nvPicPr>
        <p:blipFill>
          <a:blip r:embed="rId2"/>
          <a:stretch>
            <a:fillRect/>
          </a:stretch>
        </p:blipFill>
        <p:spPr>
          <a:xfrm>
            <a:off x="473456" y="1188720"/>
            <a:ext cx="7282688"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お客様の声を数値で把握</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NPS（顧客推奨度）を自動集計・トレンド表示</a:t>
            </a:r>
          </a:p>
          <a:p>
            <a:pPr>
              <a:spcAft>
                <a:spcPts val="600"/>
              </a:spcAft>
              <a:defRPr sz="1200">
                <a:solidFill>
                  <a:srgbClr val="333333"/>
                </a:solidFill>
                <a:latin typeface="Meiryo"/>
              </a:defRPr>
            </a:pPr>
            <a:r>
              <a:t>  ✓  Promoter / Passive / Detractor を色分け表示</a:t>
            </a:r>
          </a:p>
          <a:p>
            <a:pPr>
              <a:spcAft>
                <a:spcPts val="600"/>
              </a:spcAft>
              <a:defRPr sz="1200">
                <a:solidFill>
                  <a:srgbClr val="333333"/>
                </a:solidFill>
                <a:latin typeface="Meiryo"/>
              </a:defRPr>
            </a:pPr>
            <a:r>
              <a:t>  ✓  コメント付きフィードバックで具体的な改善点を把握</a:t>
            </a:r>
          </a:p>
          <a:p>
            <a:pPr>
              <a:spcAft>
                <a:spcPts val="600"/>
              </a:spcAft>
              <a:defRPr sz="1200">
                <a:solidFill>
                  <a:srgbClr val="333333"/>
                </a:solidFill>
                <a:latin typeface="Meiryo"/>
              </a:defRPr>
            </a:pPr>
            <a:r>
              <a:t>  ✓  注文データと紐付けてサービス品質を分析</a:t>
            </a:r>
          </a:p>
          <a:p>
            <a:pPr>
              <a:spcAft>
                <a:spcPts val="600"/>
              </a:spcAft>
              <a:defRPr sz="1200">
                <a:solidFill>
                  <a:srgbClr val="333333"/>
                </a:solidFill>
                <a:latin typeface="Meiryo"/>
              </a:defRPr>
            </a:pPr>
            <a:r>
              <a:t>  ✓  月別・スタッフ別の満足度推移を可視化</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2800" b="1">
                <a:solidFill>
                  <a:srgbClr val="8C876C"/>
                </a:solidFill>
                <a:latin typeface="Meiryo"/>
              </a:defRPr>
            </a:pPr>
            <a:r>
              <a:t>管理画面 — 出退勤ボード</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097280"/>
            <a:ext cx="7498079" cy="530352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ttendance_board_vp.png"/>
          <p:cNvPicPr>
            <a:picLocks noChangeAspect="1"/>
          </p:cNvPicPr>
          <p:nvPr/>
        </p:nvPicPr>
        <p:blipFill>
          <a:blip r:embed="rId2"/>
          <a:stretch>
            <a:fillRect/>
          </a:stretch>
        </p:blipFill>
        <p:spPr>
          <a:xfrm>
            <a:off x="473456" y="1188720"/>
            <a:ext cx="7282688" cy="5120640"/>
          </a:xfrm>
          <a:prstGeom prst="rect">
            <a:avLst/>
          </a:prstGeom>
        </p:spPr>
      </p:pic>
      <p:sp>
        <p:nvSpPr>
          <p:cNvPr id="6" name="TextBox 5"/>
          <p:cNvSpPr txBox="1"/>
          <p:nvPr/>
        </p:nvSpPr>
        <p:spPr>
          <a:xfrm>
            <a:off x="8138160" y="1097280"/>
            <a:ext cx="3657600" cy="457200"/>
          </a:xfrm>
          <a:prstGeom prst="rect">
            <a:avLst/>
          </a:prstGeom>
          <a:noFill/>
        </p:spPr>
        <p:txBody>
          <a:bodyPr wrap="square">
            <a:spAutoFit/>
          </a:bodyPr>
          <a:lstStyle/>
          <a:p>
            <a:pPr algn="l">
              <a:defRPr sz="1800" b="1">
                <a:solidFill>
                  <a:srgbClr val="333333"/>
                </a:solidFill>
                <a:latin typeface="Meiryo"/>
              </a:defRPr>
            </a:pPr>
            <a:r>
              <a:t>スタッフの勤務状況をリアルタイム表示</a:t>
            </a:r>
          </a:p>
        </p:txBody>
      </p:sp>
      <p:sp>
        <p:nvSpPr>
          <p:cNvPr id="7" name="TextBox 6"/>
          <p:cNvSpPr txBox="1"/>
          <p:nvPr/>
        </p:nvSpPr>
        <p:spPr>
          <a:xfrm>
            <a:off x="8138160" y="1645920"/>
            <a:ext cx="3657600" cy="4572000"/>
          </a:xfrm>
          <a:prstGeom prst="rect">
            <a:avLst/>
          </a:prstGeom>
          <a:noFill/>
        </p:spPr>
        <p:txBody>
          <a:bodyPr wrap="square">
            <a:spAutoFit/>
          </a:bodyPr>
          <a:lstStyle/>
          <a:p>
            <a:pPr>
              <a:spcAft>
                <a:spcPts val="600"/>
              </a:spcAft>
              <a:defRPr sz="1200">
                <a:solidFill>
                  <a:srgbClr val="333333"/>
                </a:solidFill>
                <a:latin typeface="Meiryo"/>
              </a:defRPr>
            </a:pPr>
            <a:r>
              <a:t>  ✓  出勤中・休憩中・未出勤のステータスを一覧表示</a:t>
            </a:r>
          </a:p>
          <a:p>
            <a:pPr>
              <a:spcAft>
                <a:spcPts val="600"/>
              </a:spcAft>
              <a:defRPr sz="1200">
                <a:solidFill>
                  <a:srgbClr val="333333"/>
                </a:solidFill>
                <a:latin typeface="Meiryo"/>
              </a:defRPr>
            </a:pPr>
            <a:r>
              <a:t>  ✓  30秒ごとに自動更新でリアルタイム把握</a:t>
            </a:r>
          </a:p>
          <a:p>
            <a:pPr>
              <a:spcAft>
                <a:spcPts val="600"/>
              </a:spcAft>
              <a:defRPr sz="1200">
                <a:solidFill>
                  <a:srgbClr val="333333"/>
                </a:solidFill>
                <a:latin typeface="Meiryo"/>
              </a:defRPr>
            </a:pPr>
            <a:r>
              <a:t>  ✓  QRコード / PIN入力 / スマホ打刻の3方式に対応</a:t>
            </a:r>
          </a:p>
          <a:p>
            <a:pPr>
              <a:spcAft>
                <a:spcPts val="600"/>
              </a:spcAft>
              <a:defRPr sz="1200">
                <a:solidFill>
                  <a:srgbClr val="333333"/>
                </a:solidFill>
                <a:latin typeface="Meiryo"/>
              </a:defRPr>
            </a:pPr>
            <a:r>
              <a:t>  ✓  残業・深夜・休日出勤を自動で分類</a:t>
            </a:r>
          </a:p>
          <a:p>
            <a:pPr>
              <a:spcAft>
                <a:spcPts val="600"/>
              </a:spcAft>
              <a:defRPr sz="1200">
                <a:solidFill>
                  <a:srgbClr val="333333"/>
                </a:solidFill>
                <a:latin typeface="Meiryo"/>
              </a:defRPr>
            </a:pPr>
            <a:r>
              <a:t>  ✓  勤怠データから給与計算へシームレスに連携</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3200" b="1">
                <a:solidFill>
                  <a:srgbClr val="8C876C"/>
                </a:solidFill>
                <a:latin typeface="Meiryo"/>
              </a:defRPr>
            </a:pPr>
            <a:r>
              <a:t>導入メリット</a:t>
            </a:r>
          </a:p>
        </p:txBody>
      </p:sp>
      <p:sp>
        <p:nvSpPr>
          <p:cNvPr id="3" name="Rectangle 2"/>
          <p:cNvSpPr/>
          <p:nvPr/>
        </p:nvSpPr>
        <p:spPr>
          <a:xfrm>
            <a:off x="731520" y="822960"/>
            <a:ext cx="18288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188720"/>
            <a:ext cx="3474720" cy="228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25880"/>
            <a:ext cx="640080" cy="640080"/>
          </a:xfrm>
          <a:prstGeom prst="rect">
            <a:avLst/>
          </a:prstGeom>
          <a:noFill/>
        </p:spPr>
        <p:txBody>
          <a:bodyPr wrap="square">
            <a:spAutoFit/>
          </a:bodyPr>
          <a:lstStyle/>
          <a:p>
            <a:pPr algn="ctr">
              <a:defRPr sz="3000" b="0">
                <a:solidFill>
                  <a:srgbClr val="333333"/>
                </a:solidFill>
                <a:latin typeface="Meiryo"/>
              </a:defRPr>
            </a:pPr>
            <a:r>
              <a:t>🛡</a:t>
            </a:r>
          </a:p>
        </p:txBody>
      </p:sp>
      <p:sp>
        <p:nvSpPr>
          <p:cNvPr id="6" name="TextBox 5"/>
          <p:cNvSpPr txBox="1"/>
          <p:nvPr/>
        </p:nvSpPr>
        <p:spPr>
          <a:xfrm>
            <a:off x="1280160" y="1371600"/>
            <a:ext cx="2468880" cy="320040"/>
          </a:xfrm>
          <a:prstGeom prst="rect">
            <a:avLst/>
          </a:prstGeom>
          <a:noFill/>
        </p:spPr>
        <p:txBody>
          <a:bodyPr wrap="square">
            <a:spAutoFit/>
          </a:bodyPr>
          <a:lstStyle/>
          <a:p>
            <a:pPr algn="l">
              <a:defRPr sz="1600" b="1">
                <a:solidFill>
                  <a:srgbClr val="8C876C"/>
                </a:solidFill>
                <a:latin typeface="Meiryo"/>
              </a:defRPr>
            </a:pPr>
            <a:r>
              <a:t>ドタキャン損失ゼロへ</a:t>
            </a:r>
          </a:p>
        </p:txBody>
      </p:sp>
      <p:sp>
        <p:nvSpPr>
          <p:cNvPr id="7" name="TextBox 6"/>
          <p:cNvSpPr txBox="1"/>
          <p:nvPr/>
        </p:nvSpPr>
        <p:spPr>
          <a:xfrm>
            <a:off x="731520" y="1828800"/>
            <a:ext cx="2926080" cy="1463040"/>
          </a:xfrm>
          <a:prstGeom prst="rect">
            <a:avLst/>
          </a:prstGeom>
          <a:noFill/>
        </p:spPr>
        <p:txBody>
          <a:bodyPr wrap="square">
            <a:spAutoFit/>
          </a:bodyPr>
          <a:lstStyle/>
          <a:p>
            <a:pPr algn="l">
              <a:defRPr sz="1200" b="0">
                <a:solidFill>
                  <a:srgbClr val="333333"/>
                </a:solidFill>
                <a:latin typeface="Meiryo"/>
              </a:defRPr>
            </a:pPr>
            <a:r>
              <a:t>前払い予約確定制で無断キャンセルを防止。</a:t>
            </a:r>
            <a:br/>
            <a:r>
              <a:t>前払い/後払いはワンクリックで切替可能です。</a:t>
            </a:r>
          </a:p>
        </p:txBody>
      </p:sp>
      <p:sp>
        <p:nvSpPr>
          <p:cNvPr id="8" name="Rounded Rectangle 7"/>
          <p:cNvSpPr/>
          <p:nvPr/>
        </p:nvSpPr>
        <p:spPr>
          <a:xfrm>
            <a:off x="4297680" y="1188720"/>
            <a:ext cx="3474720" cy="228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325880"/>
            <a:ext cx="640080" cy="640080"/>
          </a:xfrm>
          <a:prstGeom prst="rect">
            <a:avLst/>
          </a:prstGeom>
          <a:noFill/>
        </p:spPr>
        <p:txBody>
          <a:bodyPr wrap="square">
            <a:spAutoFit/>
          </a:bodyPr>
          <a:lstStyle/>
          <a:p>
            <a:pPr algn="ctr">
              <a:defRPr sz="3000" b="0">
                <a:solidFill>
                  <a:srgbClr val="333333"/>
                </a:solidFill>
                <a:latin typeface="Meiryo"/>
              </a:defRPr>
            </a:pPr>
            <a:r>
              <a:t>💬</a:t>
            </a:r>
          </a:p>
        </p:txBody>
      </p:sp>
      <p:sp>
        <p:nvSpPr>
          <p:cNvPr id="10" name="TextBox 9"/>
          <p:cNvSpPr txBox="1"/>
          <p:nvPr/>
        </p:nvSpPr>
        <p:spPr>
          <a:xfrm>
            <a:off x="5120640" y="1371600"/>
            <a:ext cx="2468880" cy="320040"/>
          </a:xfrm>
          <a:prstGeom prst="rect">
            <a:avLst/>
          </a:prstGeom>
          <a:noFill/>
        </p:spPr>
        <p:txBody>
          <a:bodyPr wrap="square">
            <a:spAutoFit/>
          </a:bodyPr>
          <a:lstStyle/>
          <a:p>
            <a:pPr algn="l">
              <a:defRPr sz="1600" b="1">
                <a:solidFill>
                  <a:srgbClr val="8C876C"/>
                </a:solidFill>
                <a:latin typeface="Meiryo"/>
              </a:defRPr>
            </a:pPr>
            <a:r>
              <a:t>LINEで予約がラクラク</a:t>
            </a:r>
          </a:p>
        </p:txBody>
      </p:sp>
      <p:sp>
        <p:nvSpPr>
          <p:cNvPr id="11" name="TextBox 10"/>
          <p:cNvSpPr txBox="1"/>
          <p:nvPr/>
        </p:nvSpPr>
        <p:spPr>
          <a:xfrm>
            <a:off x="4572000" y="1828800"/>
            <a:ext cx="2926080" cy="1463040"/>
          </a:xfrm>
          <a:prstGeom prst="rect">
            <a:avLst/>
          </a:prstGeom>
          <a:noFill/>
        </p:spPr>
        <p:txBody>
          <a:bodyPr wrap="square">
            <a:spAutoFit/>
          </a:bodyPr>
          <a:lstStyle/>
          <a:p>
            <a:pPr algn="l">
              <a:defRPr sz="1200" b="0">
                <a:solidFill>
                  <a:srgbClr val="333333"/>
                </a:solidFill>
                <a:latin typeface="Meiryo"/>
              </a:defRPr>
            </a:pPr>
            <a:r>
              <a:t>お客様はLINEのトーク画面から予約完了。</a:t>
            </a:r>
            <a:br/>
            <a:r>
              <a:t>新しいアプリのインストールは一切不要です。</a:t>
            </a:r>
          </a:p>
        </p:txBody>
      </p:sp>
      <p:sp>
        <p:nvSpPr>
          <p:cNvPr id="12" name="Rounded Rectangle 11"/>
          <p:cNvSpPr/>
          <p:nvPr/>
        </p:nvSpPr>
        <p:spPr>
          <a:xfrm>
            <a:off x="8138160" y="1188720"/>
            <a:ext cx="3474720" cy="228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325880"/>
            <a:ext cx="640080" cy="640080"/>
          </a:xfrm>
          <a:prstGeom prst="rect">
            <a:avLst/>
          </a:prstGeom>
          <a:noFill/>
        </p:spPr>
        <p:txBody>
          <a:bodyPr wrap="square">
            <a:spAutoFit/>
          </a:bodyPr>
          <a:lstStyle/>
          <a:p>
            <a:pPr algn="ctr">
              <a:defRPr sz="3000" b="0">
                <a:solidFill>
                  <a:srgbClr val="333333"/>
                </a:solidFill>
                <a:latin typeface="Meiryo"/>
              </a:defRPr>
            </a:pPr>
            <a:r>
              <a:t>📈</a:t>
            </a:r>
          </a:p>
        </p:txBody>
      </p:sp>
      <p:sp>
        <p:nvSpPr>
          <p:cNvPr id="14" name="TextBox 13"/>
          <p:cNvSpPr txBox="1"/>
          <p:nvPr/>
        </p:nvSpPr>
        <p:spPr>
          <a:xfrm>
            <a:off x="8961120" y="1371600"/>
            <a:ext cx="2468880" cy="320040"/>
          </a:xfrm>
          <a:prstGeom prst="rect">
            <a:avLst/>
          </a:prstGeom>
          <a:noFill/>
        </p:spPr>
        <p:txBody>
          <a:bodyPr wrap="square">
            <a:spAutoFit/>
          </a:bodyPr>
          <a:lstStyle/>
          <a:p>
            <a:pPr algn="l">
              <a:defRPr sz="1600" b="1">
                <a:solidFill>
                  <a:srgbClr val="8C876C"/>
                </a:solidFill>
                <a:latin typeface="Meiryo"/>
              </a:defRPr>
            </a:pPr>
            <a:r>
              <a:t>売上アップに貢献</a:t>
            </a:r>
          </a:p>
        </p:txBody>
      </p:sp>
      <p:sp>
        <p:nvSpPr>
          <p:cNvPr id="15" name="TextBox 14"/>
          <p:cNvSpPr txBox="1"/>
          <p:nvPr/>
        </p:nvSpPr>
        <p:spPr>
          <a:xfrm>
            <a:off x="8412480" y="1828800"/>
            <a:ext cx="2926080" cy="1463040"/>
          </a:xfrm>
          <a:prstGeom prst="rect">
            <a:avLst/>
          </a:prstGeom>
          <a:noFill/>
        </p:spPr>
        <p:txBody>
          <a:bodyPr wrap="square">
            <a:spAutoFit/>
          </a:bodyPr>
          <a:lstStyle/>
          <a:p>
            <a:pPr algn="l">
              <a:defRPr sz="1200" b="0">
                <a:solidFill>
                  <a:srgbClr val="333333"/>
                </a:solidFill>
                <a:latin typeface="Meiryo"/>
              </a:defRPr>
            </a:pPr>
            <a:r>
              <a:t>QR注文で追加オーダー率UP。</a:t>
            </a:r>
            <a:br/>
            <a:r>
              <a:t>多言語対応でインバウンド客も取りこぼしません。</a:t>
            </a:r>
          </a:p>
        </p:txBody>
      </p:sp>
      <p:sp>
        <p:nvSpPr>
          <p:cNvPr id="16" name="Rounded Rectangle 15"/>
          <p:cNvSpPr/>
          <p:nvPr/>
        </p:nvSpPr>
        <p:spPr>
          <a:xfrm>
            <a:off x="457200" y="3840480"/>
            <a:ext cx="3474720" cy="228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977640"/>
            <a:ext cx="640080" cy="640080"/>
          </a:xfrm>
          <a:prstGeom prst="rect">
            <a:avLst/>
          </a:prstGeom>
          <a:noFill/>
        </p:spPr>
        <p:txBody>
          <a:bodyPr wrap="square">
            <a:spAutoFit/>
          </a:bodyPr>
          <a:lstStyle/>
          <a:p>
            <a:pPr algn="ctr">
              <a:defRPr sz="3000" b="0">
                <a:solidFill>
                  <a:srgbClr val="333333"/>
                </a:solidFill>
                <a:latin typeface="Meiryo"/>
              </a:defRPr>
            </a:pPr>
            <a:r>
              <a:t>⏱</a:t>
            </a:r>
          </a:p>
        </p:txBody>
      </p:sp>
      <p:sp>
        <p:nvSpPr>
          <p:cNvPr id="18" name="TextBox 17"/>
          <p:cNvSpPr txBox="1"/>
          <p:nvPr/>
        </p:nvSpPr>
        <p:spPr>
          <a:xfrm>
            <a:off x="1280160" y="4023360"/>
            <a:ext cx="2468880" cy="320040"/>
          </a:xfrm>
          <a:prstGeom prst="rect">
            <a:avLst/>
          </a:prstGeom>
          <a:noFill/>
        </p:spPr>
        <p:txBody>
          <a:bodyPr wrap="square">
            <a:spAutoFit/>
          </a:bodyPr>
          <a:lstStyle/>
          <a:p>
            <a:pPr algn="l">
              <a:defRPr sz="1600" b="1">
                <a:solidFill>
                  <a:srgbClr val="8C876C"/>
                </a:solidFill>
                <a:latin typeface="Meiryo"/>
              </a:defRPr>
            </a:pPr>
            <a:r>
              <a:t>業務時間を大幅削減</a:t>
            </a:r>
          </a:p>
        </p:txBody>
      </p:sp>
      <p:sp>
        <p:nvSpPr>
          <p:cNvPr id="19" name="TextBox 18"/>
          <p:cNvSpPr txBox="1"/>
          <p:nvPr/>
        </p:nvSpPr>
        <p:spPr>
          <a:xfrm>
            <a:off x="731520" y="4480560"/>
            <a:ext cx="2926080" cy="1463040"/>
          </a:xfrm>
          <a:prstGeom prst="rect">
            <a:avLst/>
          </a:prstGeom>
          <a:noFill/>
        </p:spPr>
        <p:txBody>
          <a:bodyPr wrap="square">
            <a:spAutoFit/>
          </a:bodyPr>
          <a:lstStyle/>
          <a:p>
            <a:pPr algn="l">
              <a:defRPr sz="1200" b="0">
                <a:solidFill>
                  <a:srgbClr val="333333"/>
                </a:solidFill>
                <a:latin typeface="Meiryo"/>
              </a:defRPr>
            </a:pPr>
            <a:r>
              <a:t>予約受付・注文・シフト管理・給与計算を自動化。</a:t>
            </a:r>
            <a:br/>
            <a:r>
              <a:t>スタッフが接客に集中できる環境を作ります。</a:t>
            </a:r>
          </a:p>
        </p:txBody>
      </p:sp>
      <p:sp>
        <p:nvSpPr>
          <p:cNvPr id="20" name="Rounded Rectangle 19"/>
          <p:cNvSpPr/>
          <p:nvPr/>
        </p:nvSpPr>
        <p:spPr>
          <a:xfrm>
            <a:off x="4297680" y="3840480"/>
            <a:ext cx="3474720" cy="228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60" y="3977640"/>
            <a:ext cx="640080" cy="640080"/>
          </a:xfrm>
          <a:prstGeom prst="rect">
            <a:avLst/>
          </a:prstGeom>
          <a:noFill/>
        </p:spPr>
        <p:txBody>
          <a:bodyPr wrap="square">
            <a:spAutoFit/>
          </a:bodyPr>
          <a:lstStyle/>
          <a:p>
            <a:pPr algn="ctr">
              <a:defRPr sz="3000" b="0">
                <a:solidFill>
                  <a:srgbClr val="333333"/>
                </a:solidFill>
                <a:latin typeface="Meiryo"/>
              </a:defRPr>
            </a:pPr>
            <a:r>
              <a:t>💰</a:t>
            </a:r>
          </a:p>
        </p:txBody>
      </p:sp>
      <p:sp>
        <p:nvSpPr>
          <p:cNvPr id="22" name="TextBox 21"/>
          <p:cNvSpPr txBox="1"/>
          <p:nvPr/>
        </p:nvSpPr>
        <p:spPr>
          <a:xfrm>
            <a:off x="5120640" y="4023360"/>
            <a:ext cx="2468880" cy="320040"/>
          </a:xfrm>
          <a:prstGeom prst="rect">
            <a:avLst/>
          </a:prstGeom>
          <a:noFill/>
        </p:spPr>
        <p:txBody>
          <a:bodyPr wrap="square">
            <a:spAutoFit/>
          </a:bodyPr>
          <a:lstStyle/>
          <a:p>
            <a:pPr algn="l">
              <a:defRPr sz="1600" b="1">
                <a:solidFill>
                  <a:srgbClr val="8C876C"/>
                </a:solidFill>
                <a:latin typeface="Meiryo"/>
              </a:defRPr>
            </a:pPr>
            <a:r>
              <a:t>コスト削減</a:t>
            </a:r>
          </a:p>
        </p:txBody>
      </p:sp>
      <p:sp>
        <p:nvSpPr>
          <p:cNvPr id="23" name="TextBox 22"/>
          <p:cNvSpPr txBox="1"/>
          <p:nvPr/>
        </p:nvSpPr>
        <p:spPr>
          <a:xfrm>
            <a:off x="4572000" y="4480560"/>
            <a:ext cx="2926080" cy="1463040"/>
          </a:xfrm>
          <a:prstGeom prst="rect">
            <a:avLst/>
          </a:prstGeom>
          <a:noFill/>
        </p:spPr>
        <p:txBody>
          <a:bodyPr wrap="square">
            <a:spAutoFit/>
          </a:bodyPr>
          <a:lstStyle/>
          <a:p>
            <a:pPr algn="l">
              <a:defRPr sz="1200" b="0">
                <a:solidFill>
                  <a:srgbClr val="333333"/>
                </a:solidFill>
                <a:latin typeface="Meiryo"/>
              </a:defRPr>
            </a:pPr>
            <a:r>
              <a:t>予約台帳・注文伝票・タイムカード…</a:t>
            </a:r>
            <a:br/>
            <a:r>
              <a:t>紙のコストと手間をゼロにします。</a:t>
            </a:r>
          </a:p>
        </p:txBody>
      </p:sp>
      <p:sp>
        <p:nvSpPr>
          <p:cNvPr id="24" name="Rounded Rectangle 23"/>
          <p:cNvSpPr/>
          <p:nvPr/>
        </p:nvSpPr>
        <p:spPr>
          <a:xfrm>
            <a:off x="8138160" y="3840480"/>
            <a:ext cx="3474720" cy="228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0" y="3977640"/>
            <a:ext cx="640080" cy="640080"/>
          </a:xfrm>
          <a:prstGeom prst="rect">
            <a:avLst/>
          </a:prstGeom>
          <a:noFill/>
        </p:spPr>
        <p:txBody>
          <a:bodyPr wrap="square">
            <a:spAutoFit/>
          </a:bodyPr>
          <a:lstStyle/>
          <a:p>
            <a:pPr algn="ctr">
              <a:defRPr sz="3000" b="0">
                <a:solidFill>
                  <a:srgbClr val="333333"/>
                </a:solidFill>
                <a:latin typeface="Meiryo"/>
              </a:defRPr>
            </a:pPr>
            <a:r>
              <a:t>📊</a:t>
            </a:r>
          </a:p>
        </p:txBody>
      </p:sp>
      <p:sp>
        <p:nvSpPr>
          <p:cNvPr id="26" name="TextBox 25"/>
          <p:cNvSpPr txBox="1"/>
          <p:nvPr/>
        </p:nvSpPr>
        <p:spPr>
          <a:xfrm>
            <a:off x="8961120" y="4023360"/>
            <a:ext cx="2468880" cy="320040"/>
          </a:xfrm>
          <a:prstGeom prst="rect">
            <a:avLst/>
          </a:prstGeom>
          <a:noFill/>
        </p:spPr>
        <p:txBody>
          <a:bodyPr wrap="square">
            <a:spAutoFit/>
          </a:bodyPr>
          <a:lstStyle/>
          <a:p>
            <a:pPr algn="l">
              <a:defRPr sz="1600" b="1">
                <a:solidFill>
                  <a:srgbClr val="8C876C"/>
                </a:solidFill>
                <a:latin typeface="Meiryo"/>
              </a:defRPr>
            </a:pPr>
            <a:r>
              <a:t>データで経営判断</a:t>
            </a:r>
          </a:p>
        </p:txBody>
      </p:sp>
      <p:sp>
        <p:nvSpPr>
          <p:cNvPr id="27" name="TextBox 26"/>
          <p:cNvSpPr txBox="1"/>
          <p:nvPr/>
        </p:nvSpPr>
        <p:spPr>
          <a:xfrm>
            <a:off x="8412480" y="4480560"/>
            <a:ext cx="2926080" cy="1463040"/>
          </a:xfrm>
          <a:prstGeom prst="rect">
            <a:avLst/>
          </a:prstGeom>
          <a:noFill/>
        </p:spPr>
        <p:txBody>
          <a:bodyPr wrap="square">
            <a:spAutoFit/>
          </a:bodyPr>
          <a:lstStyle/>
          <a:p>
            <a:pPr algn="l">
              <a:defRPr sz="1200" b="0">
                <a:solidFill>
                  <a:srgbClr val="333333"/>
                </a:solidFill>
                <a:latin typeface="Meiryo"/>
              </a:defRPr>
            </a:pPr>
            <a:r>
              <a:t>売上・予約・スタッフ実績をダッシュボードで可視化。</a:t>
            </a:r>
            <a:br/>
            <a:r>
              <a:t>データに基づいた意思決定をサポートします。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3200" b="1">
                <a:solidFill>
                  <a:srgbClr val="8C876C"/>
                </a:solidFill>
                <a:latin typeface="Meiryo"/>
              </a:defRPr>
            </a:pPr>
            <a:r>
              <a:t>ご利用開始までの流れ</a:t>
            </a:r>
          </a:p>
        </p:txBody>
      </p:sp>
      <p:sp>
        <p:nvSpPr>
          <p:cNvPr id="3" name="Rectangle 2"/>
          <p:cNvSpPr/>
          <p:nvPr/>
        </p:nvSpPr>
        <p:spPr>
          <a:xfrm>
            <a:off x="731520" y="822960"/>
            <a:ext cx="27432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 y="1463040"/>
            <a:ext cx="1005840" cy="1005840"/>
          </a:xfrm>
          <a:prstGeom prst="ellipse">
            <a:avLst/>
          </a:prstGeom>
          <a:solidFill>
            <a:srgbClr val="8C876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Meiryo"/>
              </a:defRPr>
            </a:pPr>
            <a:r>
              <a:t>STEP 1</a:t>
            </a:r>
          </a:p>
        </p:txBody>
      </p:sp>
      <p:sp>
        <p:nvSpPr>
          <p:cNvPr id="5" name="TextBox 4"/>
          <p:cNvSpPr txBox="1"/>
          <p:nvPr/>
        </p:nvSpPr>
        <p:spPr>
          <a:xfrm>
            <a:off x="2103120" y="1645920"/>
            <a:ext cx="548640" cy="548640"/>
          </a:xfrm>
          <a:prstGeom prst="rect">
            <a:avLst/>
          </a:prstGeom>
          <a:noFill/>
        </p:spPr>
        <p:txBody>
          <a:bodyPr wrap="square">
            <a:spAutoFit/>
          </a:bodyPr>
          <a:lstStyle/>
          <a:p>
            <a:pPr algn="ctr">
              <a:defRPr sz="2800" b="0">
                <a:solidFill>
                  <a:srgbClr val="8C876C"/>
                </a:solidFill>
                <a:latin typeface="Meiryo"/>
              </a:defRPr>
            </a:pPr>
            <a:r>
              <a:t>→</a:t>
            </a:r>
          </a:p>
        </p:txBody>
      </p:sp>
      <p:sp>
        <p:nvSpPr>
          <p:cNvPr id="6" name="TextBox 5"/>
          <p:cNvSpPr txBox="1"/>
          <p:nvPr/>
        </p:nvSpPr>
        <p:spPr>
          <a:xfrm>
            <a:off x="457200" y="2651760"/>
            <a:ext cx="2011680" cy="365760"/>
          </a:xfrm>
          <a:prstGeom prst="rect">
            <a:avLst/>
          </a:prstGeom>
          <a:noFill/>
        </p:spPr>
        <p:txBody>
          <a:bodyPr wrap="square">
            <a:spAutoFit/>
          </a:bodyPr>
          <a:lstStyle/>
          <a:p>
            <a:pPr algn="ctr">
              <a:defRPr sz="1600" b="1">
                <a:solidFill>
                  <a:srgbClr val="333333"/>
                </a:solidFill>
                <a:latin typeface="Meiryo"/>
              </a:defRPr>
            </a:pPr>
            <a:r>
              <a:t>お問い合わせ</a:t>
            </a:r>
          </a:p>
        </p:txBody>
      </p:sp>
      <p:sp>
        <p:nvSpPr>
          <p:cNvPr id="7" name="TextBox 6"/>
          <p:cNvSpPr txBox="1"/>
          <p:nvPr/>
        </p:nvSpPr>
        <p:spPr>
          <a:xfrm>
            <a:off x="457200" y="3108960"/>
            <a:ext cx="2011680" cy="1097280"/>
          </a:xfrm>
          <a:prstGeom prst="rect">
            <a:avLst/>
          </a:prstGeom>
          <a:noFill/>
        </p:spPr>
        <p:txBody>
          <a:bodyPr wrap="square">
            <a:spAutoFit/>
          </a:bodyPr>
          <a:lstStyle/>
          <a:p>
            <a:pPr algn="ctr">
              <a:defRPr sz="1200" b="0">
                <a:solidFill>
                  <a:srgbClr val="999999"/>
                </a:solidFill>
                <a:latin typeface="Meiryo"/>
              </a:defRPr>
            </a:pPr>
            <a:r>
              <a:t>お電話またはフォームから</a:t>
            </a:r>
            <a:br/>
            <a:r>
              <a:t>お気軽にご連絡ください</a:t>
            </a:r>
          </a:p>
        </p:txBody>
      </p:sp>
      <p:sp>
        <p:nvSpPr>
          <p:cNvPr id="8" name="Oval 7"/>
          <p:cNvSpPr/>
          <p:nvPr/>
        </p:nvSpPr>
        <p:spPr>
          <a:xfrm>
            <a:off x="3246120" y="1463040"/>
            <a:ext cx="1005840" cy="1005840"/>
          </a:xfrm>
          <a:prstGeom prst="ellipse">
            <a:avLst/>
          </a:prstGeom>
          <a:solidFill>
            <a:srgbClr val="8C876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Meiryo"/>
              </a:defRPr>
            </a:pPr>
            <a:r>
              <a:t>STEP 2</a:t>
            </a:r>
          </a:p>
        </p:txBody>
      </p:sp>
      <p:sp>
        <p:nvSpPr>
          <p:cNvPr id="9" name="TextBox 8"/>
          <p:cNvSpPr txBox="1"/>
          <p:nvPr/>
        </p:nvSpPr>
        <p:spPr>
          <a:xfrm>
            <a:off x="4389120" y="1645920"/>
            <a:ext cx="548640" cy="548640"/>
          </a:xfrm>
          <a:prstGeom prst="rect">
            <a:avLst/>
          </a:prstGeom>
          <a:noFill/>
        </p:spPr>
        <p:txBody>
          <a:bodyPr wrap="square">
            <a:spAutoFit/>
          </a:bodyPr>
          <a:lstStyle/>
          <a:p>
            <a:pPr algn="ctr">
              <a:defRPr sz="2800" b="0">
                <a:solidFill>
                  <a:srgbClr val="8C876C"/>
                </a:solidFill>
                <a:latin typeface="Meiryo"/>
              </a:defRPr>
            </a:pPr>
            <a:r>
              <a:t>→</a:t>
            </a:r>
          </a:p>
        </p:txBody>
      </p:sp>
      <p:sp>
        <p:nvSpPr>
          <p:cNvPr id="10" name="TextBox 9"/>
          <p:cNvSpPr txBox="1"/>
          <p:nvPr/>
        </p:nvSpPr>
        <p:spPr>
          <a:xfrm>
            <a:off x="2743200" y="2651760"/>
            <a:ext cx="2011680" cy="365760"/>
          </a:xfrm>
          <a:prstGeom prst="rect">
            <a:avLst/>
          </a:prstGeom>
          <a:noFill/>
        </p:spPr>
        <p:txBody>
          <a:bodyPr wrap="square">
            <a:spAutoFit/>
          </a:bodyPr>
          <a:lstStyle/>
          <a:p>
            <a:pPr algn="ctr">
              <a:defRPr sz="1600" b="1">
                <a:solidFill>
                  <a:srgbClr val="333333"/>
                </a:solidFill>
                <a:latin typeface="Meiryo"/>
              </a:defRPr>
            </a:pPr>
            <a:r>
              <a:t>ヒアリング</a:t>
            </a:r>
          </a:p>
        </p:txBody>
      </p:sp>
      <p:sp>
        <p:nvSpPr>
          <p:cNvPr id="11" name="TextBox 10"/>
          <p:cNvSpPr txBox="1"/>
          <p:nvPr/>
        </p:nvSpPr>
        <p:spPr>
          <a:xfrm>
            <a:off x="2743200" y="3108960"/>
            <a:ext cx="2011680" cy="1097280"/>
          </a:xfrm>
          <a:prstGeom prst="rect">
            <a:avLst/>
          </a:prstGeom>
          <a:noFill/>
        </p:spPr>
        <p:txBody>
          <a:bodyPr wrap="square">
            <a:spAutoFit/>
          </a:bodyPr>
          <a:lstStyle/>
          <a:p>
            <a:pPr algn="ctr">
              <a:defRPr sz="1200" b="0">
                <a:solidFill>
                  <a:srgbClr val="999999"/>
                </a:solidFill>
                <a:latin typeface="Meiryo"/>
              </a:defRPr>
            </a:pPr>
            <a:r>
              <a:t>現在の業務フローや</a:t>
            </a:r>
            <a:br/>
            <a:r>
              <a:t>課題をお伺いします</a:t>
            </a:r>
          </a:p>
        </p:txBody>
      </p:sp>
      <p:sp>
        <p:nvSpPr>
          <p:cNvPr id="12" name="Oval 11"/>
          <p:cNvSpPr/>
          <p:nvPr/>
        </p:nvSpPr>
        <p:spPr>
          <a:xfrm>
            <a:off x="5532120" y="1463040"/>
            <a:ext cx="1005840" cy="1005840"/>
          </a:xfrm>
          <a:prstGeom prst="ellipse">
            <a:avLst/>
          </a:prstGeom>
          <a:solidFill>
            <a:srgbClr val="8C876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Meiryo"/>
              </a:defRPr>
            </a:pPr>
            <a:r>
              <a:t>STEP 3</a:t>
            </a:r>
          </a:p>
        </p:txBody>
      </p:sp>
      <p:sp>
        <p:nvSpPr>
          <p:cNvPr id="13" name="TextBox 12"/>
          <p:cNvSpPr txBox="1"/>
          <p:nvPr/>
        </p:nvSpPr>
        <p:spPr>
          <a:xfrm>
            <a:off x="6675120" y="1645920"/>
            <a:ext cx="548640" cy="548640"/>
          </a:xfrm>
          <a:prstGeom prst="rect">
            <a:avLst/>
          </a:prstGeom>
          <a:noFill/>
        </p:spPr>
        <p:txBody>
          <a:bodyPr wrap="square">
            <a:spAutoFit/>
          </a:bodyPr>
          <a:lstStyle/>
          <a:p>
            <a:pPr algn="ctr">
              <a:defRPr sz="2800" b="0">
                <a:solidFill>
                  <a:srgbClr val="8C876C"/>
                </a:solidFill>
                <a:latin typeface="Meiryo"/>
              </a:defRPr>
            </a:pPr>
            <a:r>
              <a:t>→</a:t>
            </a:r>
          </a:p>
        </p:txBody>
      </p:sp>
      <p:sp>
        <p:nvSpPr>
          <p:cNvPr id="14" name="TextBox 13"/>
          <p:cNvSpPr txBox="1"/>
          <p:nvPr/>
        </p:nvSpPr>
        <p:spPr>
          <a:xfrm>
            <a:off x="5029200" y="2651760"/>
            <a:ext cx="2011680" cy="365760"/>
          </a:xfrm>
          <a:prstGeom prst="rect">
            <a:avLst/>
          </a:prstGeom>
          <a:noFill/>
        </p:spPr>
        <p:txBody>
          <a:bodyPr wrap="square">
            <a:spAutoFit/>
          </a:bodyPr>
          <a:lstStyle/>
          <a:p>
            <a:pPr algn="ctr">
              <a:defRPr sz="1600" b="1">
                <a:solidFill>
                  <a:srgbClr val="333333"/>
                </a:solidFill>
                <a:latin typeface="Meiryo"/>
              </a:defRPr>
            </a:pPr>
            <a:r>
              <a:t>デモ・お見積り</a:t>
            </a:r>
          </a:p>
        </p:txBody>
      </p:sp>
      <p:sp>
        <p:nvSpPr>
          <p:cNvPr id="15" name="TextBox 14"/>
          <p:cNvSpPr txBox="1"/>
          <p:nvPr/>
        </p:nvSpPr>
        <p:spPr>
          <a:xfrm>
            <a:off x="5029200" y="3108960"/>
            <a:ext cx="2011680" cy="1097280"/>
          </a:xfrm>
          <a:prstGeom prst="rect">
            <a:avLst/>
          </a:prstGeom>
          <a:noFill/>
        </p:spPr>
        <p:txBody>
          <a:bodyPr wrap="square">
            <a:spAutoFit/>
          </a:bodyPr>
          <a:lstStyle/>
          <a:p>
            <a:pPr algn="ctr">
              <a:defRPr sz="1200" b="0">
                <a:solidFill>
                  <a:srgbClr val="999999"/>
                </a:solidFill>
                <a:latin typeface="Meiryo"/>
              </a:defRPr>
            </a:pPr>
            <a:r>
              <a:t>実際の画面をお見せしながら</a:t>
            </a:r>
            <a:br/>
            <a:r>
              <a:t>最適なプランをご提案</a:t>
            </a:r>
          </a:p>
        </p:txBody>
      </p:sp>
      <p:sp>
        <p:nvSpPr>
          <p:cNvPr id="16" name="Oval 15"/>
          <p:cNvSpPr/>
          <p:nvPr/>
        </p:nvSpPr>
        <p:spPr>
          <a:xfrm>
            <a:off x="7818120" y="1463040"/>
            <a:ext cx="1005840" cy="1005840"/>
          </a:xfrm>
          <a:prstGeom prst="ellipse">
            <a:avLst/>
          </a:prstGeom>
          <a:solidFill>
            <a:srgbClr val="8C876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Meiryo"/>
              </a:defRPr>
            </a:pPr>
            <a:r>
              <a:t>STEP 4</a:t>
            </a:r>
          </a:p>
        </p:txBody>
      </p:sp>
      <p:sp>
        <p:nvSpPr>
          <p:cNvPr id="17" name="TextBox 16"/>
          <p:cNvSpPr txBox="1"/>
          <p:nvPr/>
        </p:nvSpPr>
        <p:spPr>
          <a:xfrm>
            <a:off x="8961120" y="1645920"/>
            <a:ext cx="548640" cy="548640"/>
          </a:xfrm>
          <a:prstGeom prst="rect">
            <a:avLst/>
          </a:prstGeom>
          <a:noFill/>
        </p:spPr>
        <p:txBody>
          <a:bodyPr wrap="square">
            <a:spAutoFit/>
          </a:bodyPr>
          <a:lstStyle/>
          <a:p>
            <a:pPr algn="ctr">
              <a:defRPr sz="2800" b="0">
                <a:solidFill>
                  <a:srgbClr val="8C876C"/>
                </a:solidFill>
                <a:latin typeface="Meiryo"/>
              </a:defRPr>
            </a:pPr>
            <a:r>
              <a:t>→</a:t>
            </a:r>
          </a:p>
        </p:txBody>
      </p:sp>
      <p:sp>
        <p:nvSpPr>
          <p:cNvPr id="18" name="TextBox 17"/>
          <p:cNvSpPr txBox="1"/>
          <p:nvPr/>
        </p:nvSpPr>
        <p:spPr>
          <a:xfrm>
            <a:off x="7315200" y="2651760"/>
            <a:ext cx="2011680" cy="365760"/>
          </a:xfrm>
          <a:prstGeom prst="rect">
            <a:avLst/>
          </a:prstGeom>
          <a:noFill/>
        </p:spPr>
        <p:txBody>
          <a:bodyPr wrap="square">
            <a:spAutoFit/>
          </a:bodyPr>
          <a:lstStyle/>
          <a:p>
            <a:pPr algn="ctr">
              <a:defRPr sz="1600" b="1">
                <a:solidFill>
                  <a:srgbClr val="333333"/>
                </a:solidFill>
                <a:latin typeface="Meiryo"/>
              </a:defRPr>
            </a:pPr>
            <a:r>
              <a:t>アカウント発行</a:t>
            </a:r>
          </a:p>
        </p:txBody>
      </p:sp>
      <p:sp>
        <p:nvSpPr>
          <p:cNvPr id="19" name="TextBox 18"/>
          <p:cNvSpPr txBox="1"/>
          <p:nvPr/>
        </p:nvSpPr>
        <p:spPr>
          <a:xfrm>
            <a:off x="7315200" y="3108960"/>
            <a:ext cx="2011680" cy="1097280"/>
          </a:xfrm>
          <a:prstGeom prst="rect">
            <a:avLst/>
          </a:prstGeom>
          <a:noFill/>
        </p:spPr>
        <p:txBody>
          <a:bodyPr wrap="square">
            <a:spAutoFit/>
          </a:bodyPr>
          <a:lstStyle/>
          <a:p>
            <a:pPr algn="ctr">
              <a:defRPr sz="1200" b="0">
                <a:solidFill>
                  <a:srgbClr val="999999"/>
                </a:solidFill>
                <a:latin typeface="Meiryo"/>
              </a:defRPr>
            </a:pPr>
            <a:r>
              <a:t>店舗情報・スタッフを登録</a:t>
            </a:r>
            <a:br/>
            <a:r>
              <a:t>初期設定をサポート</a:t>
            </a:r>
          </a:p>
        </p:txBody>
      </p:sp>
      <p:sp>
        <p:nvSpPr>
          <p:cNvPr id="20" name="Oval 19"/>
          <p:cNvSpPr/>
          <p:nvPr/>
        </p:nvSpPr>
        <p:spPr>
          <a:xfrm>
            <a:off x="10104120" y="1463040"/>
            <a:ext cx="1005840" cy="1005840"/>
          </a:xfrm>
          <a:prstGeom prst="ellipse">
            <a:avLst/>
          </a:prstGeom>
          <a:solidFill>
            <a:srgbClr val="8C876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Meiryo"/>
              </a:defRPr>
            </a:pPr>
            <a:r>
              <a:t>STEP 5</a:t>
            </a:r>
          </a:p>
        </p:txBody>
      </p:sp>
      <p:sp>
        <p:nvSpPr>
          <p:cNvPr id="21" name="TextBox 20"/>
          <p:cNvSpPr txBox="1"/>
          <p:nvPr/>
        </p:nvSpPr>
        <p:spPr>
          <a:xfrm>
            <a:off x="9601200" y="2651760"/>
            <a:ext cx="2011680" cy="365760"/>
          </a:xfrm>
          <a:prstGeom prst="rect">
            <a:avLst/>
          </a:prstGeom>
          <a:noFill/>
        </p:spPr>
        <p:txBody>
          <a:bodyPr wrap="square">
            <a:spAutoFit/>
          </a:bodyPr>
          <a:lstStyle/>
          <a:p>
            <a:pPr algn="ctr">
              <a:defRPr sz="1600" b="1">
                <a:solidFill>
                  <a:srgbClr val="333333"/>
                </a:solidFill>
                <a:latin typeface="Meiryo"/>
              </a:defRPr>
            </a:pPr>
            <a:r>
              <a:t>運用開始</a:t>
            </a:r>
          </a:p>
        </p:txBody>
      </p:sp>
      <p:sp>
        <p:nvSpPr>
          <p:cNvPr id="22" name="TextBox 21"/>
          <p:cNvSpPr txBox="1"/>
          <p:nvPr/>
        </p:nvSpPr>
        <p:spPr>
          <a:xfrm>
            <a:off x="9601200" y="3108960"/>
            <a:ext cx="2011680" cy="1097280"/>
          </a:xfrm>
          <a:prstGeom prst="rect">
            <a:avLst/>
          </a:prstGeom>
          <a:noFill/>
        </p:spPr>
        <p:txBody>
          <a:bodyPr wrap="square">
            <a:spAutoFit/>
          </a:bodyPr>
          <a:lstStyle/>
          <a:p>
            <a:pPr algn="ctr">
              <a:defRPr sz="1200" b="0">
                <a:solidFill>
                  <a:srgbClr val="999999"/>
                </a:solidFill>
                <a:latin typeface="Meiryo"/>
              </a:defRPr>
            </a:pPr>
            <a:r>
              <a:t>操作方法のレクチャー後</a:t>
            </a:r>
            <a:br/>
            <a:r>
              <a:t>すぐにご利用開始！</a:t>
            </a:r>
          </a:p>
        </p:txBody>
      </p:sp>
      <p:sp>
        <p:nvSpPr>
          <p:cNvPr id="23" name="Rounded Rectangle 22"/>
          <p:cNvSpPr/>
          <p:nvPr/>
        </p:nvSpPr>
        <p:spPr>
          <a:xfrm>
            <a:off x="914400" y="4754880"/>
            <a:ext cx="10360152" cy="137160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1600" y="4937760"/>
            <a:ext cx="9445752" cy="1097280"/>
          </a:xfrm>
          <a:prstGeom prst="rect">
            <a:avLst/>
          </a:prstGeom>
          <a:noFill/>
        </p:spPr>
        <p:txBody>
          <a:bodyPr wrap="square">
            <a:spAutoFit/>
          </a:bodyPr>
          <a:lstStyle/>
          <a:p>
            <a:pPr algn="l">
              <a:defRPr sz="1300" b="0">
                <a:solidFill>
                  <a:srgbClr val="333333"/>
                </a:solidFill>
                <a:latin typeface="Meiryo"/>
              </a:defRPr>
            </a:pPr>
            <a:r>
              <a:t>最短即日でご利用開始いただけます。</a:t>
            </a:r>
            <a:br/>
            <a:r>
              <a:t>専用機器の購入やシステム工事は一切不要です。お手持ちのスマホ・タブレット・PCからすぐにアクセスできます。</a:t>
            </a:r>
            <a:br/>
            <a:r>
              <a:t>導入後も操作方法のサポートや機能アップデートを継続的にご提供します。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3200" b="1">
                <a:solidFill>
                  <a:srgbClr val="8C876C"/>
                </a:solidFill>
                <a:latin typeface="Meiryo"/>
              </a:defRPr>
            </a:pPr>
            <a:r>
              <a:t>料金プラン</a:t>
            </a:r>
          </a:p>
        </p:txBody>
      </p:sp>
      <p:sp>
        <p:nvSpPr>
          <p:cNvPr id="3" name="Rectangle 2"/>
          <p:cNvSpPr/>
          <p:nvPr/>
        </p:nvSpPr>
        <p:spPr>
          <a:xfrm>
            <a:off x="731520" y="822960"/>
            <a:ext cx="18288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05840"/>
            <a:ext cx="10058400" cy="365760"/>
          </a:xfrm>
          <a:prstGeom prst="rect">
            <a:avLst/>
          </a:prstGeom>
          <a:noFill/>
        </p:spPr>
        <p:txBody>
          <a:bodyPr wrap="square">
            <a:spAutoFit/>
          </a:bodyPr>
          <a:lstStyle/>
          <a:p>
            <a:pPr algn="l">
              <a:defRPr sz="1200" b="0">
                <a:solidFill>
                  <a:srgbClr val="999999"/>
                </a:solidFill>
                <a:latin typeface="Meiryo"/>
              </a:defRPr>
            </a:pPr>
            <a:r>
              <a:t>※ 以下は参考価格です。ご要望に応じてカスタマイズいたします。</a:t>
            </a:r>
          </a:p>
        </p:txBody>
      </p:sp>
      <p:sp>
        <p:nvSpPr>
          <p:cNvPr id="5" name="Rounded Rectangle 4"/>
          <p:cNvSpPr/>
          <p:nvPr/>
        </p:nvSpPr>
        <p:spPr>
          <a:xfrm>
            <a:off x="548640" y="1554480"/>
            <a:ext cx="3474720" cy="475488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54480"/>
            <a:ext cx="3474720" cy="73152"/>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3108960" cy="365760"/>
          </a:xfrm>
          <a:prstGeom prst="rect">
            <a:avLst/>
          </a:prstGeom>
          <a:noFill/>
        </p:spPr>
        <p:txBody>
          <a:bodyPr wrap="square">
            <a:spAutoFit/>
          </a:bodyPr>
          <a:lstStyle/>
          <a:p>
            <a:pPr algn="ctr">
              <a:defRPr sz="1800" b="1">
                <a:solidFill>
                  <a:srgbClr val="333333"/>
                </a:solidFill>
                <a:latin typeface="Meiryo"/>
              </a:defRPr>
            </a:pPr>
            <a:r>
              <a:t>ライトプラン</a:t>
            </a:r>
          </a:p>
        </p:txBody>
      </p:sp>
      <p:sp>
        <p:nvSpPr>
          <p:cNvPr id="8" name="TextBox 7"/>
          <p:cNvSpPr txBox="1"/>
          <p:nvPr/>
        </p:nvSpPr>
        <p:spPr>
          <a:xfrm>
            <a:off x="731520" y="2286000"/>
            <a:ext cx="3108960" cy="457200"/>
          </a:xfrm>
          <a:prstGeom prst="rect">
            <a:avLst/>
          </a:prstGeom>
          <a:noFill/>
        </p:spPr>
        <p:txBody>
          <a:bodyPr wrap="square">
            <a:spAutoFit/>
          </a:bodyPr>
          <a:lstStyle/>
          <a:p>
            <a:pPr algn="ctr">
              <a:defRPr sz="2200" b="1">
                <a:solidFill>
                  <a:srgbClr val="4CAF50"/>
                </a:solidFill>
                <a:latin typeface="Meiryo"/>
              </a:defRPr>
            </a:pPr>
            <a:r>
              <a:t>月額 ¥○○,○○○〜</a:t>
            </a:r>
          </a:p>
        </p:txBody>
      </p:sp>
      <p:sp>
        <p:nvSpPr>
          <p:cNvPr id="9" name="Rectangle 8"/>
          <p:cNvSpPr/>
          <p:nvPr/>
        </p:nvSpPr>
        <p:spPr>
          <a:xfrm>
            <a:off x="822960" y="2834640"/>
            <a:ext cx="2926080" cy="18288"/>
          </a:xfrm>
          <a:prstGeom prst="rect">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926080"/>
            <a:ext cx="3108960" cy="274320"/>
          </a:xfrm>
          <a:prstGeom prst="rect">
            <a:avLst/>
          </a:prstGeom>
          <a:noFill/>
        </p:spPr>
        <p:txBody>
          <a:bodyPr wrap="square">
            <a:spAutoFit/>
          </a:bodyPr>
          <a:lstStyle/>
          <a:p>
            <a:pPr algn="ctr">
              <a:defRPr sz="1100" b="0">
                <a:solidFill>
                  <a:srgbClr val="999999"/>
                </a:solidFill>
                <a:latin typeface="Meiryo"/>
              </a:defRPr>
            </a:pPr>
            <a:r>
              <a:t>小規模店舗向け</a:t>
            </a:r>
          </a:p>
        </p:txBody>
      </p:sp>
      <p:sp>
        <p:nvSpPr>
          <p:cNvPr id="11" name="TextBox 10"/>
          <p:cNvSpPr txBox="1"/>
          <p:nvPr/>
        </p:nvSpPr>
        <p:spPr>
          <a:xfrm>
            <a:off x="822960" y="3291840"/>
            <a:ext cx="2926080" cy="2834640"/>
          </a:xfrm>
          <a:prstGeom prst="rect">
            <a:avLst/>
          </a:prstGeom>
          <a:noFill/>
        </p:spPr>
        <p:txBody>
          <a:bodyPr wrap="square">
            <a:spAutoFit/>
          </a:bodyPr>
          <a:lstStyle/>
          <a:p>
            <a:pPr>
              <a:spcAft>
                <a:spcPts val="600"/>
              </a:spcAft>
              <a:defRPr sz="1200">
                <a:solidFill>
                  <a:srgbClr val="333333"/>
                </a:solidFill>
                <a:latin typeface="Meiryo"/>
              </a:defRPr>
            </a:pPr>
            <a:r>
              <a:t>  ✓  予約管理（LINE・メール）</a:t>
            </a:r>
          </a:p>
          <a:p>
            <a:pPr>
              <a:spcAft>
                <a:spcPts val="600"/>
              </a:spcAft>
              <a:defRPr sz="1200">
                <a:solidFill>
                  <a:srgbClr val="333333"/>
                </a:solidFill>
                <a:latin typeface="Meiryo"/>
              </a:defRPr>
            </a:pPr>
            <a:r>
              <a:t>  ✓  スタッフ管理（5名まで）</a:t>
            </a:r>
          </a:p>
          <a:p>
            <a:pPr>
              <a:spcAft>
                <a:spcPts val="600"/>
              </a:spcAft>
              <a:defRPr sz="1200">
                <a:solidFill>
                  <a:srgbClr val="333333"/>
                </a:solidFill>
                <a:latin typeface="Meiryo"/>
              </a:defRPr>
            </a:pPr>
            <a:r>
              <a:t>  ✓  ホームページ管理</a:t>
            </a:r>
          </a:p>
          <a:p>
            <a:pPr>
              <a:spcAft>
                <a:spcPts val="600"/>
              </a:spcAft>
              <a:defRPr sz="1200">
                <a:solidFill>
                  <a:srgbClr val="333333"/>
                </a:solidFill>
                <a:latin typeface="Meiryo"/>
              </a:defRPr>
            </a:pPr>
            <a:r>
              <a:t>  ✓  メール・チャットサポート</a:t>
            </a:r>
          </a:p>
        </p:txBody>
      </p:sp>
      <p:sp>
        <p:nvSpPr>
          <p:cNvPr id="12" name="Rounded Rectangle 11"/>
          <p:cNvSpPr/>
          <p:nvPr/>
        </p:nvSpPr>
        <p:spPr>
          <a:xfrm>
            <a:off x="4389120" y="1554480"/>
            <a:ext cx="3474720" cy="475488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554480"/>
            <a:ext cx="3474720" cy="73152"/>
          </a:xfrm>
          <a:prstGeom prst="rect">
            <a:avLst/>
          </a:prstGeom>
          <a:solidFill>
            <a:srgbClr val="428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0640" y="1417320"/>
            <a:ext cx="2011680" cy="320040"/>
          </a:xfrm>
          <a:prstGeom prst="roundRect">
            <a:avLst/>
          </a:prstGeom>
          <a:solidFill>
            <a:srgbClr val="428B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Meiryo"/>
              </a:defRPr>
            </a:pPr>
            <a:r>
              <a:t>★ おすすめ！</a:t>
            </a:r>
          </a:p>
        </p:txBody>
      </p:sp>
      <p:sp>
        <p:nvSpPr>
          <p:cNvPr id="15" name="TextBox 14"/>
          <p:cNvSpPr txBox="1"/>
          <p:nvPr/>
        </p:nvSpPr>
        <p:spPr>
          <a:xfrm>
            <a:off x="4572000" y="1828800"/>
            <a:ext cx="3108960" cy="365760"/>
          </a:xfrm>
          <a:prstGeom prst="rect">
            <a:avLst/>
          </a:prstGeom>
          <a:noFill/>
        </p:spPr>
        <p:txBody>
          <a:bodyPr wrap="square">
            <a:spAutoFit/>
          </a:bodyPr>
          <a:lstStyle/>
          <a:p>
            <a:pPr algn="ctr">
              <a:defRPr sz="1800" b="1">
                <a:solidFill>
                  <a:srgbClr val="333333"/>
                </a:solidFill>
                <a:latin typeface="Meiryo"/>
              </a:defRPr>
            </a:pPr>
            <a:r>
              <a:t>スタンダードプラン</a:t>
            </a:r>
          </a:p>
        </p:txBody>
      </p:sp>
      <p:sp>
        <p:nvSpPr>
          <p:cNvPr id="16" name="TextBox 15"/>
          <p:cNvSpPr txBox="1"/>
          <p:nvPr/>
        </p:nvSpPr>
        <p:spPr>
          <a:xfrm>
            <a:off x="4572000" y="2286000"/>
            <a:ext cx="3108960" cy="457200"/>
          </a:xfrm>
          <a:prstGeom prst="rect">
            <a:avLst/>
          </a:prstGeom>
          <a:noFill/>
        </p:spPr>
        <p:txBody>
          <a:bodyPr wrap="square">
            <a:spAutoFit/>
          </a:bodyPr>
          <a:lstStyle/>
          <a:p>
            <a:pPr algn="ctr">
              <a:defRPr sz="2200" b="1">
                <a:solidFill>
                  <a:srgbClr val="428BCA"/>
                </a:solidFill>
                <a:latin typeface="Meiryo"/>
              </a:defRPr>
            </a:pPr>
            <a:r>
              <a:t>月額 ¥○○,○○○〜</a:t>
            </a:r>
          </a:p>
        </p:txBody>
      </p:sp>
      <p:sp>
        <p:nvSpPr>
          <p:cNvPr id="17" name="Rectangle 16"/>
          <p:cNvSpPr/>
          <p:nvPr/>
        </p:nvSpPr>
        <p:spPr>
          <a:xfrm>
            <a:off x="4663440" y="2834640"/>
            <a:ext cx="2926080" cy="18288"/>
          </a:xfrm>
          <a:prstGeom prst="rect">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926080"/>
            <a:ext cx="3108960" cy="274320"/>
          </a:xfrm>
          <a:prstGeom prst="rect">
            <a:avLst/>
          </a:prstGeom>
          <a:noFill/>
        </p:spPr>
        <p:txBody>
          <a:bodyPr wrap="square">
            <a:spAutoFit/>
          </a:bodyPr>
          <a:lstStyle/>
          <a:p>
            <a:pPr algn="ctr">
              <a:defRPr sz="1100" b="0">
                <a:solidFill>
                  <a:srgbClr val="999999"/>
                </a:solidFill>
                <a:latin typeface="Meiryo"/>
              </a:defRPr>
            </a:pPr>
            <a:r>
              <a:t>中規模店舗向け</a:t>
            </a:r>
          </a:p>
        </p:txBody>
      </p:sp>
      <p:sp>
        <p:nvSpPr>
          <p:cNvPr id="19" name="TextBox 18"/>
          <p:cNvSpPr txBox="1"/>
          <p:nvPr/>
        </p:nvSpPr>
        <p:spPr>
          <a:xfrm>
            <a:off x="4663440" y="3291840"/>
            <a:ext cx="2926080" cy="2834640"/>
          </a:xfrm>
          <a:prstGeom prst="rect">
            <a:avLst/>
          </a:prstGeom>
          <a:noFill/>
        </p:spPr>
        <p:txBody>
          <a:bodyPr wrap="square">
            <a:spAutoFit/>
          </a:bodyPr>
          <a:lstStyle/>
          <a:p>
            <a:pPr>
              <a:spcAft>
                <a:spcPts val="600"/>
              </a:spcAft>
              <a:defRPr sz="1200">
                <a:solidFill>
                  <a:srgbClr val="333333"/>
                </a:solidFill>
                <a:latin typeface="Meiryo"/>
              </a:defRPr>
            </a:pPr>
            <a:r>
              <a:t>  ✓  ライトプランの全機能</a:t>
            </a:r>
          </a:p>
          <a:p>
            <a:pPr>
              <a:spcAft>
                <a:spcPts val="600"/>
              </a:spcAft>
              <a:defRPr sz="1200">
                <a:solidFill>
                  <a:srgbClr val="333333"/>
                </a:solidFill>
                <a:latin typeface="Meiryo"/>
              </a:defRPr>
            </a:pPr>
            <a:r>
              <a:t>  ✓  QRテーブル注文</a:t>
            </a:r>
          </a:p>
          <a:p>
            <a:pPr>
              <a:spcAft>
                <a:spcPts val="600"/>
              </a:spcAft>
              <a:defRPr sz="1200">
                <a:solidFill>
                  <a:srgbClr val="333333"/>
                </a:solidFill>
                <a:latin typeface="Meiryo"/>
              </a:defRPr>
            </a:pPr>
            <a:r>
              <a:t>  ✓  在庫管理</a:t>
            </a:r>
          </a:p>
          <a:p>
            <a:pPr>
              <a:spcAft>
                <a:spcPts val="600"/>
              </a:spcAft>
              <a:defRPr sz="1200">
                <a:solidFill>
                  <a:srgbClr val="333333"/>
                </a:solidFill>
                <a:latin typeface="Meiryo"/>
              </a:defRPr>
            </a:pPr>
            <a:r>
              <a:t>  ✓  シフト管理</a:t>
            </a:r>
          </a:p>
          <a:p>
            <a:pPr>
              <a:spcAft>
                <a:spcPts val="600"/>
              </a:spcAft>
              <a:defRPr sz="1200">
                <a:solidFill>
                  <a:srgbClr val="333333"/>
                </a:solidFill>
                <a:latin typeface="Meiryo"/>
              </a:defRPr>
            </a:pPr>
            <a:r>
              <a:t>  ✓  スタッフ無制限</a:t>
            </a:r>
          </a:p>
          <a:p>
            <a:pPr>
              <a:spcAft>
                <a:spcPts val="600"/>
              </a:spcAft>
              <a:defRPr sz="1200">
                <a:solidFill>
                  <a:srgbClr val="333333"/>
                </a:solidFill>
                <a:latin typeface="Meiryo"/>
              </a:defRPr>
            </a:pPr>
            <a:r>
              <a:t>  ✓  電話サポート</a:t>
            </a:r>
          </a:p>
        </p:txBody>
      </p:sp>
      <p:sp>
        <p:nvSpPr>
          <p:cNvPr id="20" name="Rounded Rectangle 19"/>
          <p:cNvSpPr/>
          <p:nvPr/>
        </p:nvSpPr>
        <p:spPr>
          <a:xfrm>
            <a:off x="8229600" y="1554480"/>
            <a:ext cx="3474720" cy="4754880"/>
          </a:xfrm>
          <a:prstGeom prst="round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554480"/>
            <a:ext cx="3474720" cy="73152"/>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1828800"/>
            <a:ext cx="3108960" cy="365760"/>
          </a:xfrm>
          <a:prstGeom prst="rect">
            <a:avLst/>
          </a:prstGeom>
          <a:noFill/>
        </p:spPr>
        <p:txBody>
          <a:bodyPr wrap="square">
            <a:spAutoFit/>
          </a:bodyPr>
          <a:lstStyle/>
          <a:p>
            <a:pPr algn="ctr">
              <a:defRPr sz="1800" b="1">
                <a:solidFill>
                  <a:srgbClr val="333333"/>
                </a:solidFill>
                <a:latin typeface="Meiryo"/>
              </a:defRPr>
            </a:pPr>
            <a:r>
              <a:t>プレミアムプラン</a:t>
            </a:r>
          </a:p>
        </p:txBody>
      </p:sp>
      <p:sp>
        <p:nvSpPr>
          <p:cNvPr id="23" name="TextBox 22"/>
          <p:cNvSpPr txBox="1"/>
          <p:nvPr/>
        </p:nvSpPr>
        <p:spPr>
          <a:xfrm>
            <a:off x="8412480" y="2286000"/>
            <a:ext cx="3108960" cy="457200"/>
          </a:xfrm>
          <a:prstGeom prst="rect">
            <a:avLst/>
          </a:prstGeom>
          <a:noFill/>
        </p:spPr>
        <p:txBody>
          <a:bodyPr wrap="square">
            <a:spAutoFit/>
          </a:bodyPr>
          <a:lstStyle/>
          <a:p>
            <a:pPr algn="ctr">
              <a:defRPr sz="2200" b="1">
                <a:solidFill>
                  <a:srgbClr val="8C876C"/>
                </a:solidFill>
                <a:latin typeface="Meiryo"/>
              </a:defRPr>
            </a:pPr>
            <a:r>
              <a:t>月額 ¥○○,○○○〜</a:t>
            </a:r>
          </a:p>
        </p:txBody>
      </p:sp>
      <p:sp>
        <p:nvSpPr>
          <p:cNvPr id="24" name="Rectangle 23"/>
          <p:cNvSpPr/>
          <p:nvPr/>
        </p:nvSpPr>
        <p:spPr>
          <a:xfrm>
            <a:off x="8503920" y="2834640"/>
            <a:ext cx="2926080" cy="18288"/>
          </a:xfrm>
          <a:prstGeom prst="rect">
            <a:avLst/>
          </a:prstGeom>
          <a:solidFill>
            <a:srgbClr val="9999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2926080"/>
            <a:ext cx="3108960" cy="274320"/>
          </a:xfrm>
          <a:prstGeom prst="rect">
            <a:avLst/>
          </a:prstGeom>
          <a:noFill/>
        </p:spPr>
        <p:txBody>
          <a:bodyPr wrap="square">
            <a:spAutoFit/>
          </a:bodyPr>
          <a:lstStyle/>
          <a:p>
            <a:pPr algn="ctr">
              <a:defRPr sz="1100" b="0">
                <a:solidFill>
                  <a:srgbClr val="999999"/>
                </a:solidFill>
                <a:latin typeface="Meiryo"/>
              </a:defRPr>
            </a:pPr>
            <a:r>
              <a:t>複数店舗・フル機能</a:t>
            </a:r>
          </a:p>
        </p:txBody>
      </p:sp>
      <p:sp>
        <p:nvSpPr>
          <p:cNvPr id="26" name="TextBox 25"/>
          <p:cNvSpPr txBox="1"/>
          <p:nvPr/>
        </p:nvSpPr>
        <p:spPr>
          <a:xfrm>
            <a:off x="8503920" y="3291840"/>
            <a:ext cx="2926080" cy="2834640"/>
          </a:xfrm>
          <a:prstGeom prst="rect">
            <a:avLst/>
          </a:prstGeom>
          <a:noFill/>
        </p:spPr>
        <p:txBody>
          <a:bodyPr wrap="square">
            <a:spAutoFit/>
          </a:bodyPr>
          <a:lstStyle/>
          <a:p>
            <a:pPr>
              <a:spcAft>
                <a:spcPts val="600"/>
              </a:spcAft>
              <a:defRPr sz="1200">
                <a:solidFill>
                  <a:srgbClr val="333333"/>
                </a:solidFill>
                <a:latin typeface="Meiryo"/>
              </a:defRPr>
            </a:pPr>
            <a:r>
              <a:t>  ✓  スタンダードの全機能</a:t>
            </a:r>
          </a:p>
          <a:p>
            <a:pPr>
              <a:spcAft>
                <a:spcPts val="600"/>
              </a:spcAft>
              <a:defRPr sz="1200">
                <a:solidFill>
                  <a:srgbClr val="333333"/>
                </a:solidFill>
                <a:latin typeface="Meiryo"/>
              </a:defRPr>
            </a:pPr>
            <a:r>
              <a:t>  ✓  給与計算・勤怠管理</a:t>
            </a:r>
          </a:p>
          <a:p>
            <a:pPr>
              <a:spcAft>
                <a:spcPts val="600"/>
              </a:spcAft>
              <a:defRPr sz="1200">
                <a:solidFill>
                  <a:srgbClr val="333333"/>
                </a:solidFill>
                <a:latin typeface="Meiryo"/>
              </a:defRPr>
            </a:pPr>
            <a:r>
              <a:t>  ✓  売上ダッシュボード</a:t>
            </a:r>
          </a:p>
          <a:p>
            <a:pPr>
              <a:spcAft>
                <a:spcPts val="600"/>
              </a:spcAft>
              <a:defRPr sz="1200">
                <a:solidFill>
                  <a:srgbClr val="333333"/>
                </a:solidFill>
                <a:latin typeface="Meiryo"/>
              </a:defRPr>
            </a:pPr>
            <a:r>
              <a:t>  ✓  多言語対応（7言語）</a:t>
            </a:r>
          </a:p>
          <a:p>
            <a:pPr>
              <a:spcAft>
                <a:spcPts val="600"/>
              </a:spcAft>
              <a:defRPr sz="1200">
                <a:solidFill>
                  <a:srgbClr val="333333"/>
                </a:solidFill>
                <a:latin typeface="Meiryo"/>
              </a:defRPr>
            </a:pPr>
            <a:r>
              <a:t>  ✓  複数店舗管理</a:t>
            </a:r>
          </a:p>
          <a:p>
            <a:pPr>
              <a:spcAft>
                <a:spcPts val="600"/>
              </a:spcAft>
              <a:defRPr sz="1200">
                <a:solidFill>
                  <a:srgbClr val="333333"/>
                </a:solidFill>
                <a:latin typeface="Meiryo"/>
              </a:defRPr>
            </a:pPr>
            <a:r>
              <a:t>  ✓  優先サポート</a:t>
            </a:r>
          </a:p>
          <a:p>
            <a:pPr>
              <a:spcAft>
                <a:spcPts val="600"/>
              </a:spcAft>
              <a:defRPr sz="1200">
                <a:solidFill>
                  <a:srgbClr val="333333"/>
                </a:solidFill>
                <a:latin typeface="Meiryo"/>
              </a:defRPr>
            </a:pPr>
            <a:r>
              <a:t>  ✓  カスタマイズ対応</a:t>
            </a:r>
          </a:p>
        </p:txBody>
      </p:sp>
      <p:sp>
        <p:nvSpPr>
          <p:cNvPr id="27" name="TextBox 26"/>
          <p:cNvSpPr txBox="1"/>
          <p:nvPr/>
        </p:nvSpPr>
        <p:spPr>
          <a:xfrm>
            <a:off x="731520" y="6400800"/>
            <a:ext cx="10058400" cy="274320"/>
          </a:xfrm>
          <a:prstGeom prst="rect">
            <a:avLst/>
          </a:prstGeom>
          <a:noFill/>
        </p:spPr>
        <p:txBody>
          <a:bodyPr wrap="square">
            <a:spAutoFit/>
          </a:bodyPr>
          <a:lstStyle/>
          <a:p>
            <a:pPr algn="l">
              <a:defRPr sz="1000" b="0">
                <a:solidFill>
                  <a:srgbClr val="999999"/>
                </a:solidFill>
                <a:latin typeface="Meiryo"/>
              </a:defRPr>
            </a:pPr>
            <a:r>
              <a:t>※ 初期費用・カスタマイズ費用は別途お見積りとなります。  ※ 表示価格は税別です。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1F0EC"/>
        </a:solidFill>
        <a:effectLst/>
      </p:bgPr>
    </p:bg>
    <p:spTree>
      <p:nvGrpSpPr>
        <p:cNvPr id="1" name=""/>
        <p:cNvGrpSpPr/>
        <p:nvPr/>
      </p:nvGrpSpPr>
      <p:grpSpPr/>
      <p:sp>
        <p:nvSpPr>
          <p:cNvPr id="2" name="TextBox 1"/>
          <p:cNvSpPr txBox="1"/>
          <p:nvPr/>
        </p:nvSpPr>
        <p:spPr>
          <a:xfrm>
            <a:off x="731520" y="274320"/>
            <a:ext cx="10058400" cy="457200"/>
          </a:xfrm>
          <a:prstGeom prst="rect">
            <a:avLst/>
          </a:prstGeom>
          <a:noFill/>
        </p:spPr>
        <p:txBody>
          <a:bodyPr wrap="square">
            <a:spAutoFit/>
          </a:bodyPr>
          <a:lstStyle/>
          <a:p>
            <a:pPr algn="l">
              <a:defRPr sz="3200" b="1">
                <a:solidFill>
                  <a:srgbClr val="8C876C"/>
                </a:solidFill>
                <a:latin typeface="Meiryo"/>
              </a:defRPr>
            </a:pPr>
            <a:r>
              <a:t>よくあるご質問</a:t>
            </a:r>
          </a:p>
        </p:txBody>
      </p:sp>
      <p:sp>
        <p:nvSpPr>
          <p:cNvPr id="3" name="Rectangle 2"/>
          <p:cNvSpPr/>
          <p:nvPr/>
        </p:nvSpPr>
        <p:spPr>
          <a:xfrm>
            <a:off x="731520" y="822960"/>
            <a:ext cx="1828800" cy="36576"/>
          </a:xfrm>
          <a:prstGeom prst="rect">
            <a:avLst/>
          </a:prstGeom>
          <a:solidFill>
            <a:srgbClr val="8C87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097280"/>
            <a:ext cx="11274552" cy="960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170432"/>
            <a:ext cx="10725912" cy="274320"/>
          </a:xfrm>
          <a:prstGeom prst="rect">
            <a:avLst/>
          </a:prstGeom>
          <a:noFill/>
        </p:spPr>
        <p:txBody>
          <a:bodyPr wrap="square">
            <a:spAutoFit/>
          </a:bodyPr>
          <a:lstStyle/>
          <a:p>
            <a:pPr algn="l">
              <a:defRPr sz="1300" b="1">
                <a:solidFill>
                  <a:srgbClr val="8C876C"/>
                </a:solidFill>
                <a:latin typeface="Meiryo"/>
              </a:defRPr>
            </a:pPr>
            <a:r>
              <a:t>Q. 導入に必要な機器はありますか？</a:t>
            </a:r>
          </a:p>
        </p:txBody>
      </p:sp>
      <p:sp>
        <p:nvSpPr>
          <p:cNvPr id="6" name="TextBox 5"/>
          <p:cNvSpPr txBox="1"/>
          <p:nvPr/>
        </p:nvSpPr>
        <p:spPr>
          <a:xfrm>
            <a:off x="731520" y="1463040"/>
            <a:ext cx="10725912" cy="548640"/>
          </a:xfrm>
          <a:prstGeom prst="rect">
            <a:avLst/>
          </a:prstGeom>
          <a:noFill/>
        </p:spPr>
        <p:txBody>
          <a:bodyPr wrap="square">
            <a:spAutoFit/>
          </a:bodyPr>
          <a:lstStyle/>
          <a:p>
            <a:pPr algn="l">
              <a:defRPr sz="1100" b="0">
                <a:solidFill>
                  <a:srgbClr val="333333"/>
                </a:solidFill>
                <a:latin typeface="Meiryo"/>
              </a:defRPr>
            </a:pPr>
            <a:r>
              <a:t>A. いいえ、専用機器は不要です。お手持ちのスマートフォン、タブレット、PCからすぐにご利用いただけます。</a:t>
            </a:r>
            <a:br/>
            <a:r>
              <a:t>　 テーブル注文のQRコードは、管理画面から生成して印刷するだけです。</a:t>
            </a:r>
          </a:p>
        </p:txBody>
      </p:sp>
      <p:sp>
        <p:nvSpPr>
          <p:cNvPr id="7" name="Rounded Rectangle 6"/>
          <p:cNvSpPr/>
          <p:nvPr/>
        </p:nvSpPr>
        <p:spPr>
          <a:xfrm>
            <a:off x="457200" y="2194560"/>
            <a:ext cx="11274552" cy="960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67712"/>
            <a:ext cx="10725912" cy="274320"/>
          </a:xfrm>
          <a:prstGeom prst="rect">
            <a:avLst/>
          </a:prstGeom>
          <a:noFill/>
        </p:spPr>
        <p:txBody>
          <a:bodyPr wrap="square">
            <a:spAutoFit/>
          </a:bodyPr>
          <a:lstStyle/>
          <a:p>
            <a:pPr algn="l">
              <a:defRPr sz="1300" b="1">
                <a:solidFill>
                  <a:srgbClr val="8C876C"/>
                </a:solidFill>
                <a:latin typeface="Meiryo"/>
              </a:defRPr>
            </a:pPr>
            <a:r>
              <a:t>Q. ITに詳しくないスタッフでも使えますか？</a:t>
            </a:r>
          </a:p>
        </p:txBody>
      </p:sp>
      <p:sp>
        <p:nvSpPr>
          <p:cNvPr id="9" name="TextBox 8"/>
          <p:cNvSpPr txBox="1"/>
          <p:nvPr/>
        </p:nvSpPr>
        <p:spPr>
          <a:xfrm>
            <a:off x="731520" y="2560320"/>
            <a:ext cx="10725912" cy="548640"/>
          </a:xfrm>
          <a:prstGeom prst="rect">
            <a:avLst/>
          </a:prstGeom>
          <a:noFill/>
        </p:spPr>
        <p:txBody>
          <a:bodyPr wrap="square">
            <a:spAutoFit/>
          </a:bodyPr>
          <a:lstStyle/>
          <a:p>
            <a:pPr algn="l">
              <a:defRPr sz="1100" b="0">
                <a:solidFill>
                  <a:srgbClr val="333333"/>
                </a:solidFill>
                <a:latin typeface="Meiryo"/>
              </a:defRPr>
            </a:pPr>
            <a:r>
              <a:t>A. はい。スマホが使える方なら直感的に操作できるシンプルな画面設計です。</a:t>
            </a:r>
            <a:br/>
            <a:r>
              <a:t>　 導入時には操作レクチャーも実施いたします。</a:t>
            </a:r>
          </a:p>
        </p:txBody>
      </p:sp>
      <p:sp>
        <p:nvSpPr>
          <p:cNvPr id="10" name="Rounded Rectangle 9"/>
          <p:cNvSpPr/>
          <p:nvPr/>
        </p:nvSpPr>
        <p:spPr>
          <a:xfrm>
            <a:off x="457200" y="3291840"/>
            <a:ext cx="11274552" cy="960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364992"/>
            <a:ext cx="10725912" cy="274320"/>
          </a:xfrm>
          <a:prstGeom prst="rect">
            <a:avLst/>
          </a:prstGeom>
          <a:noFill/>
        </p:spPr>
        <p:txBody>
          <a:bodyPr wrap="square">
            <a:spAutoFit/>
          </a:bodyPr>
          <a:lstStyle/>
          <a:p>
            <a:pPr algn="l">
              <a:defRPr sz="1300" b="1">
                <a:solidFill>
                  <a:srgbClr val="8C876C"/>
                </a:solidFill>
                <a:latin typeface="Meiryo"/>
              </a:defRPr>
            </a:pPr>
            <a:r>
              <a:t>Q. 途中で機能を追加・変更できますか？</a:t>
            </a:r>
          </a:p>
        </p:txBody>
      </p:sp>
      <p:sp>
        <p:nvSpPr>
          <p:cNvPr id="12" name="TextBox 11"/>
          <p:cNvSpPr txBox="1"/>
          <p:nvPr/>
        </p:nvSpPr>
        <p:spPr>
          <a:xfrm>
            <a:off x="731520" y="3657600"/>
            <a:ext cx="10725912" cy="548640"/>
          </a:xfrm>
          <a:prstGeom prst="rect">
            <a:avLst/>
          </a:prstGeom>
          <a:noFill/>
        </p:spPr>
        <p:txBody>
          <a:bodyPr wrap="square">
            <a:spAutoFit/>
          </a:bodyPr>
          <a:lstStyle/>
          <a:p>
            <a:pPr algn="l">
              <a:defRPr sz="1100" b="0">
                <a:solidFill>
                  <a:srgbClr val="333333"/>
                </a:solidFill>
                <a:latin typeface="Meiryo"/>
              </a:defRPr>
            </a:pPr>
            <a:r>
              <a:t>A. はい。プランの変更はいつでも可能です。</a:t>
            </a:r>
            <a:br/>
            <a:r>
              <a:t>　 まずは基本機能からスタートして、必要に応じて機能を追加していくことをおすすめしています。</a:t>
            </a:r>
          </a:p>
        </p:txBody>
      </p:sp>
      <p:sp>
        <p:nvSpPr>
          <p:cNvPr id="13" name="Rounded Rectangle 12"/>
          <p:cNvSpPr/>
          <p:nvPr/>
        </p:nvSpPr>
        <p:spPr>
          <a:xfrm>
            <a:off x="457200" y="4389120"/>
            <a:ext cx="11274552" cy="960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462272"/>
            <a:ext cx="10725912" cy="274320"/>
          </a:xfrm>
          <a:prstGeom prst="rect">
            <a:avLst/>
          </a:prstGeom>
          <a:noFill/>
        </p:spPr>
        <p:txBody>
          <a:bodyPr wrap="square">
            <a:spAutoFit/>
          </a:bodyPr>
          <a:lstStyle/>
          <a:p>
            <a:pPr algn="l">
              <a:defRPr sz="1300" b="1">
                <a:solidFill>
                  <a:srgbClr val="8C876C"/>
                </a:solidFill>
                <a:latin typeface="Meiryo"/>
              </a:defRPr>
            </a:pPr>
            <a:r>
              <a:t>Q. データのセキュリティは大丈夫ですか？</a:t>
            </a:r>
          </a:p>
        </p:txBody>
      </p:sp>
      <p:sp>
        <p:nvSpPr>
          <p:cNvPr id="15" name="TextBox 14"/>
          <p:cNvSpPr txBox="1"/>
          <p:nvPr/>
        </p:nvSpPr>
        <p:spPr>
          <a:xfrm>
            <a:off x="731520" y="4754880"/>
            <a:ext cx="10725912" cy="548640"/>
          </a:xfrm>
          <a:prstGeom prst="rect">
            <a:avLst/>
          </a:prstGeom>
          <a:noFill/>
        </p:spPr>
        <p:txBody>
          <a:bodyPr wrap="square">
            <a:spAutoFit/>
          </a:bodyPr>
          <a:lstStyle/>
          <a:p>
            <a:pPr algn="l">
              <a:defRPr sz="1100" b="0">
                <a:solidFill>
                  <a:srgbClr val="333333"/>
                </a:solidFill>
                <a:latin typeface="Meiryo"/>
              </a:defRPr>
            </a:pPr>
            <a:r>
              <a:t>A. お客様の個人情報は暗号化して保管しています。通信はすべてSSL暗号化で保護されており、</a:t>
            </a:r>
            <a:br/>
            <a:r>
              <a:t>　 クレジットカード情報は外部の決済サービス（PCI DSS準拠）で処理するため、店舗側にカード情報は残りません。</a:t>
            </a:r>
          </a:p>
        </p:txBody>
      </p:sp>
      <p:sp>
        <p:nvSpPr>
          <p:cNvPr id="16" name="Rounded Rectangle 15"/>
          <p:cNvSpPr/>
          <p:nvPr/>
        </p:nvSpPr>
        <p:spPr>
          <a:xfrm>
            <a:off x="457200" y="5486400"/>
            <a:ext cx="11274552" cy="9601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559552"/>
            <a:ext cx="10725912" cy="274320"/>
          </a:xfrm>
          <a:prstGeom prst="rect">
            <a:avLst/>
          </a:prstGeom>
          <a:noFill/>
        </p:spPr>
        <p:txBody>
          <a:bodyPr wrap="square">
            <a:spAutoFit/>
          </a:bodyPr>
          <a:lstStyle/>
          <a:p>
            <a:pPr algn="l">
              <a:defRPr sz="1300" b="1">
                <a:solidFill>
                  <a:srgbClr val="8C876C"/>
                </a:solidFill>
                <a:latin typeface="Meiryo"/>
              </a:defRPr>
            </a:pPr>
            <a:r>
              <a:t>Q. 複数店舗で使えますか？</a:t>
            </a:r>
          </a:p>
        </p:txBody>
      </p:sp>
      <p:sp>
        <p:nvSpPr>
          <p:cNvPr id="18" name="TextBox 17"/>
          <p:cNvSpPr txBox="1"/>
          <p:nvPr/>
        </p:nvSpPr>
        <p:spPr>
          <a:xfrm>
            <a:off x="731520" y="5852160"/>
            <a:ext cx="10725912" cy="548640"/>
          </a:xfrm>
          <a:prstGeom prst="rect">
            <a:avLst/>
          </a:prstGeom>
          <a:noFill/>
        </p:spPr>
        <p:txBody>
          <a:bodyPr wrap="square">
            <a:spAutoFit/>
          </a:bodyPr>
          <a:lstStyle/>
          <a:p>
            <a:pPr algn="l">
              <a:defRPr sz="1100" b="0">
                <a:solidFill>
                  <a:srgbClr val="333333"/>
                </a:solidFill>
                <a:latin typeface="Meiryo"/>
              </a:defRPr>
            </a:pPr>
            <a:r>
              <a:t>A. はい。プレミアムプランでは複数店舗を一元管理できます。</a:t>
            </a:r>
            <a:br/>
            <a:r>
              <a:t>　 店舗ごとにスタッフや在庫を分けて管理しながら、全体の売上をまとめて確認できます。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8C876C"/>
        </a:solidFill>
        <a:effectLst/>
      </p:bgPr>
    </p:bg>
    <p:spTree>
      <p:nvGrpSpPr>
        <p:cNvPr id="1" name=""/>
        <p:cNvGrpSpPr/>
        <p:nvPr/>
      </p:nvGrpSpPr>
      <p:grpSpPr/>
      <p:sp>
        <p:nvSpPr>
          <p:cNvPr id="2" name="TextBox 1"/>
          <p:cNvSpPr txBox="1"/>
          <p:nvPr/>
        </p:nvSpPr>
        <p:spPr>
          <a:xfrm>
            <a:off x="914400" y="1371600"/>
            <a:ext cx="10058400" cy="731520"/>
          </a:xfrm>
          <a:prstGeom prst="rect">
            <a:avLst/>
          </a:prstGeom>
          <a:noFill/>
        </p:spPr>
        <p:txBody>
          <a:bodyPr wrap="square">
            <a:spAutoFit/>
          </a:bodyPr>
          <a:lstStyle/>
          <a:p>
            <a:pPr algn="ctr">
              <a:defRPr sz="3600" b="1">
                <a:solidFill>
                  <a:srgbClr val="FFFFFF"/>
                </a:solidFill>
                <a:latin typeface="Meiryo"/>
              </a:defRPr>
            </a:pPr>
            <a:r>
              <a:t>まずはお気軽にお問い合わせください</a:t>
            </a:r>
          </a:p>
        </p:txBody>
      </p:sp>
      <p:sp>
        <p:nvSpPr>
          <p:cNvPr id="3" name="TextBox 2"/>
          <p:cNvSpPr txBox="1"/>
          <p:nvPr/>
        </p:nvSpPr>
        <p:spPr>
          <a:xfrm>
            <a:off x="914400" y="2286000"/>
            <a:ext cx="10058400" cy="548640"/>
          </a:xfrm>
          <a:prstGeom prst="rect">
            <a:avLst/>
          </a:prstGeom>
          <a:noFill/>
        </p:spPr>
        <p:txBody>
          <a:bodyPr wrap="square">
            <a:spAutoFit/>
          </a:bodyPr>
          <a:lstStyle/>
          <a:p>
            <a:pPr algn="ctr">
              <a:defRPr sz="1800" b="0">
                <a:solidFill>
                  <a:srgbClr val="F1F0EC"/>
                </a:solidFill>
                <a:latin typeface="Meiryo"/>
              </a:defRPr>
            </a:pPr>
            <a:r>
              <a:t>デモのご依頼・お見積り・ご質問など、なんでもお気軽にどうぞ。</a:t>
            </a:r>
          </a:p>
        </p:txBody>
      </p:sp>
      <p:sp>
        <p:nvSpPr>
          <p:cNvPr id="4" name="Rectangle 3"/>
          <p:cNvSpPr/>
          <p:nvPr/>
        </p:nvSpPr>
        <p:spPr>
          <a:xfrm>
            <a:off x="4114800" y="3017520"/>
            <a:ext cx="3959352" cy="274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0" y="3474720"/>
            <a:ext cx="6702552" cy="228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0" y="3657600"/>
            <a:ext cx="4572000" cy="320040"/>
          </a:xfrm>
          <a:prstGeom prst="rect">
            <a:avLst/>
          </a:prstGeom>
          <a:noFill/>
        </p:spPr>
        <p:txBody>
          <a:bodyPr wrap="square">
            <a:spAutoFit/>
          </a:bodyPr>
          <a:lstStyle/>
          <a:p>
            <a:pPr algn="l">
              <a:defRPr sz="1500" b="1">
                <a:solidFill>
                  <a:srgbClr val="333333"/>
                </a:solidFill>
                <a:latin typeface="Meiryo"/>
              </a:defRPr>
            </a:pPr>
            <a:r>
              <a:t>TEL:     000-0000-0000</a:t>
            </a:r>
          </a:p>
        </p:txBody>
      </p:sp>
      <p:sp>
        <p:nvSpPr>
          <p:cNvPr id="7" name="TextBox 6"/>
          <p:cNvSpPr txBox="1"/>
          <p:nvPr/>
        </p:nvSpPr>
        <p:spPr>
          <a:xfrm>
            <a:off x="3657600" y="3977640"/>
            <a:ext cx="4572000" cy="320040"/>
          </a:xfrm>
          <a:prstGeom prst="rect">
            <a:avLst/>
          </a:prstGeom>
          <a:noFill/>
        </p:spPr>
        <p:txBody>
          <a:bodyPr wrap="square">
            <a:spAutoFit/>
          </a:bodyPr>
          <a:lstStyle/>
          <a:p>
            <a:pPr algn="l">
              <a:defRPr sz="1500" b="1">
                <a:solidFill>
                  <a:srgbClr val="333333"/>
                </a:solidFill>
                <a:latin typeface="Meiryo"/>
              </a:defRPr>
            </a:pPr>
            <a:r>
              <a:t>Email:   info@example.com</a:t>
            </a:r>
          </a:p>
        </p:txBody>
      </p:sp>
      <p:sp>
        <p:nvSpPr>
          <p:cNvPr id="8" name="TextBox 7"/>
          <p:cNvSpPr txBox="1"/>
          <p:nvPr/>
        </p:nvSpPr>
        <p:spPr>
          <a:xfrm>
            <a:off x="3657600" y="4297680"/>
            <a:ext cx="4572000" cy="320040"/>
          </a:xfrm>
          <a:prstGeom prst="rect">
            <a:avLst/>
          </a:prstGeom>
          <a:noFill/>
        </p:spPr>
        <p:txBody>
          <a:bodyPr wrap="square">
            <a:spAutoFit/>
          </a:bodyPr>
          <a:lstStyle/>
          <a:p>
            <a:pPr algn="l">
              <a:defRPr sz="1500" b="1">
                <a:solidFill>
                  <a:srgbClr val="333333"/>
                </a:solidFill>
                <a:latin typeface="Meiryo"/>
              </a:defRPr>
            </a:pPr>
            <a:r>
              <a:t>Web:    https://timebaibai.com</a:t>
            </a:r>
          </a:p>
        </p:txBody>
      </p:sp>
      <p:sp>
        <p:nvSpPr>
          <p:cNvPr id="9" name="TextBox 8"/>
          <p:cNvSpPr txBox="1"/>
          <p:nvPr/>
        </p:nvSpPr>
        <p:spPr>
          <a:xfrm>
            <a:off x="3657600" y="4617720"/>
            <a:ext cx="4572000" cy="320040"/>
          </a:xfrm>
          <a:prstGeom prst="rect">
            <a:avLst/>
          </a:prstGeom>
          <a:noFill/>
        </p:spPr>
        <p:txBody>
          <a:bodyPr wrap="square">
            <a:spAutoFit/>
          </a:bodyPr>
          <a:lstStyle/>
          <a:p>
            <a:pPr algn="l">
              <a:defRPr sz="1300" b="0">
                <a:solidFill>
                  <a:srgbClr val="999999"/>
                </a:solidFill>
                <a:latin typeface="Meiryo"/>
              </a:defRPr>
            </a:pPr>
          </a:p>
        </p:txBody>
      </p:sp>
      <p:sp>
        <p:nvSpPr>
          <p:cNvPr id="10" name="TextBox 9"/>
          <p:cNvSpPr txBox="1"/>
          <p:nvPr/>
        </p:nvSpPr>
        <p:spPr>
          <a:xfrm>
            <a:off x="3657600" y="4937760"/>
            <a:ext cx="4572000" cy="320040"/>
          </a:xfrm>
          <a:prstGeom prst="rect">
            <a:avLst/>
          </a:prstGeom>
          <a:noFill/>
        </p:spPr>
        <p:txBody>
          <a:bodyPr wrap="square">
            <a:spAutoFit/>
          </a:bodyPr>
          <a:lstStyle/>
          <a:p>
            <a:pPr algn="l">
              <a:defRPr sz="1300" b="0">
                <a:solidFill>
                  <a:srgbClr val="999999"/>
                </a:solidFill>
                <a:latin typeface="Meiryo"/>
              </a:defRPr>
            </a:pPr>
            <a:r>
              <a:t>株式会社○○○○</a:t>
            </a:r>
          </a:p>
        </p:txBody>
      </p:sp>
      <p:sp>
        <p:nvSpPr>
          <p:cNvPr id="11" name="TextBox 10"/>
          <p:cNvSpPr txBox="1"/>
          <p:nvPr/>
        </p:nvSpPr>
        <p:spPr>
          <a:xfrm>
            <a:off x="3657600" y="5257800"/>
            <a:ext cx="4572000" cy="320040"/>
          </a:xfrm>
          <a:prstGeom prst="rect">
            <a:avLst/>
          </a:prstGeom>
          <a:noFill/>
        </p:spPr>
        <p:txBody>
          <a:bodyPr wrap="square">
            <a:spAutoFit/>
          </a:bodyPr>
          <a:lstStyle/>
          <a:p>
            <a:pPr algn="l">
              <a:defRPr sz="1300" b="0">
                <a:solidFill>
                  <a:srgbClr val="999999"/>
                </a:solidFill>
                <a:latin typeface="Meiryo"/>
              </a:defRPr>
            </a:pPr>
            <a:r>
              <a:t>〒000-0000  東京都○○区○○ 0-0-0</a:t>
            </a:r>
          </a:p>
        </p:txBody>
      </p:sp>
      <p:sp>
        <p:nvSpPr>
          <p:cNvPr id="12" name="TextBox 11"/>
          <p:cNvSpPr txBox="1"/>
          <p:nvPr/>
        </p:nvSpPr>
        <p:spPr>
          <a:xfrm>
            <a:off x="914400" y="6217920"/>
            <a:ext cx="10058400" cy="365760"/>
          </a:xfrm>
          <a:prstGeom prst="rect">
            <a:avLst/>
          </a:prstGeom>
          <a:noFill/>
        </p:spPr>
        <p:txBody>
          <a:bodyPr wrap="square">
            <a:spAutoFit/>
          </a:bodyPr>
          <a:lstStyle/>
          <a:p>
            <a:pPr algn="ctr">
              <a:defRPr sz="1000" b="0">
                <a:solidFill>
                  <a:srgbClr val="F1F0EC"/>
                </a:solidFill>
                <a:latin typeface="Meiryo"/>
              </a:defRPr>
            </a:pPr>
            <a:r>
              <a:t>© 2026 TimeBaiBai.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